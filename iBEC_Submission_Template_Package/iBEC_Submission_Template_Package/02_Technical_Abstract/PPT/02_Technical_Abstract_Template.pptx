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39b6406cdd44178" /><Relationship Type="http://schemas.openxmlformats.org/officeDocument/2006/relationships/extended-properties" Target="/docProps/app.xml" Id="Ra552c45999b647a1" /><Relationship Type="http://schemas.openxmlformats.org/officeDocument/2006/relationships/officeDocument" Target="/ppt/presentation.xml" Id="Rdb4c0e352e4a458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8da29ae824d4e8c"/>
  </p:sldMasterIdLst>
  <p:notesMasterIdLst>
    <p:notesMasterId xmlns:r="http://schemas.openxmlformats.org/officeDocument/2006/relationships" r:id="R84382244676247f2"/>
  </p:notesMasterIdLst>
  <p:sldIdLst>
    <p:sldId xmlns:r="http://schemas.openxmlformats.org/officeDocument/2006/relationships" id="256" r:id="R3eb51fb1c0ee4b45"/>
    <p:sldId xmlns:r="http://schemas.openxmlformats.org/officeDocument/2006/relationships" id="257" r:id="Rab609f7fe1d04384"/>
    <p:sldId xmlns:r="http://schemas.openxmlformats.org/officeDocument/2006/relationships" id="258" r:id="R0f195248db5a4a0e"/>
    <p:sldId xmlns:r="http://schemas.openxmlformats.org/officeDocument/2006/relationships" id="259" r:id="R1d3e1103476f4919"/>
    <p:sldId xmlns:r="http://schemas.openxmlformats.org/officeDocument/2006/relationships" id="260" r:id="Re6cf145b10244001"/>
    <p:sldId xmlns:r="http://schemas.openxmlformats.org/officeDocument/2006/relationships" id="261" r:id="R56aeaaf7aaf44e4d"/>
    <p:sldId xmlns:r="http://schemas.openxmlformats.org/officeDocument/2006/relationships" id="262" r:id="Rea5561296b334a6b"/>
    <p:sldId xmlns:r="http://schemas.openxmlformats.org/officeDocument/2006/relationships" id="263" r:id="R3f0945f55a574471"/>
    <p:sldId xmlns:r="http://schemas.openxmlformats.org/officeDocument/2006/relationships" id="264" r:id="Ref11a695b85a4cbb"/>
    <p:sldId xmlns:r="http://schemas.openxmlformats.org/officeDocument/2006/relationships" id="265" r:id="Raff7f4c19d9e486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d2779a470a64390" /><Relationship Type="http://schemas.openxmlformats.org/officeDocument/2006/relationships/slideMaster" Target="/ppt/slideMasters/slideMaster1.xml" Id="R68da29ae824d4e8c" /><Relationship Type="http://schemas.openxmlformats.org/officeDocument/2006/relationships/notesMaster" Target="/ppt/notesMasters/notesMaster1.xml" Id="R84382244676247f2" /><Relationship Type="http://schemas.openxmlformats.org/officeDocument/2006/relationships/presProps" Target="/ppt/presProps.xml" Id="R88ce41b9fce44c18" /><Relationship Type="http://schemas.openxmlformats.org/officeDocument/2006/relationships/tableStyles" Target="/ppt/tableStyles.xml" Id="R1b92dcaa3b824401" /><Relationship Type="http://schemas.openxmlformats.org/officeDocument/2006/relationships/slide" Target="/ppt/slides/slide1.xml" Id="R3eb51fb1c0ee4b45" /><Relationship Type="http://schemas.openxmlformats.org/officeDocument/2006/relationships/slide" Target="/ppt/slides/slide2.xml" Id="Rab609f7fe1d04384" /><Relationship Type="http://schemas.openxmlformats.org/officeDocument/2006/relationships/slide" Target="/ppt/slides/slide3.xml" Id="R0f195248db5a4a0e" /><Relationship Type="http://schemas.openxmlformats.org/officeDocument/2006/relationships/slide" Target="/ppt/slides/slide4.xml" Id="R1d3e1103476f4919" /><Relationship Type="http://schemas.openxmlformats.org/officeDocument/2006/relationships/slide" Target="/ppt/slides/slide5.xml" Id="Re6cf145b10244001" /><Relationship Type="http://schemas.openxmlformats.org/officeDocument/2006/relationships/slide" Target="/ppt/slides/slide6.xml" Id="R56aeaaf7aaf44e4d" /><Relationship Type="http://schemas.openxmlformats.org/officeDocument/2006/relationships/slide" Target="/ppt/slides/slide7.xml" Id="Rea5561296b334a6b" /><Relationship Type="http://schemas.openxmlformats.org/officeDocument/2006/relationships/slide" Target="/ppt/slides/slide8.xml" Id="R3f0945f55a574471" /><Relationship Type="http://schemas.openxmlformats.org/officeDocument/2006/relationships/slide" Target="/ppt/slides/slide9.xml" Id="Ref11a695b85a4cbb" /><Relationship Type="http://schemas.openxmlformats.org/officeDocument/2006/relationships/slide" Target="/ppt/slides/slide10.xml" Id="Raff7f4c19d9e486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9573409bf724a6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41401e408342f0" /><Relationship Type="http://schemas.openxmlformats.org/officeDocument/2006/relationships/notesMaster" Target="/ppt/notesMasters/notesMaster1.xml" Id="R331de91bea764af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b2585622db24991" /><Relationship Type="http://schemas.openxmlformats.org/officeDocument/2006/relationships/notesMaster" Target="/ppt/notesMasters/notesMaster1.xml" Id="Rbb052f8793c5428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5c96495db534f45" /><Relationship Type="http://schemas.openxmlformats.org/officeDocument/2006/relationships/notesMaster" Target="/ppt/notesMasters/notesMaster1.xml" Id="R3835779a9a4348e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19661a0f6514c6a" /><Relationship Type="http://schemas.openxmlformats.org/officeDocument/2006/relationships/notesMaster" Target="/ppt/notesMasters/notesMaster1.xml" Id="R0d7c92f9b4d94d4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183923948f74ba8" /><Relationship Type="http://schemas.openxmlformats.org/officeDocument/2006/relationships/notesMaster" Target="/ppt/notesMasters/notesMaster1.xml" Id="R9dda58553833453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2fc235d6cec47b1" /><Relationship Type="http://schemas.openxmlformats.org/officeDocument/2006/relationships/notesMaster" Target="/ppt/notesMasters/notesMaster1.xml" Id="R70b1c396d9d948a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9275d8398d6419e" /><Relationship Type="http://schemas.openxmlformats.org/officeDocument/2006/relationships/notesMaster" Target="/ppt/notesMasters/notesMaster1.xml" Id="Rf4742b45cac443c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6576fb72e874dce" /><Relationship Type="http://schemas.openxmlformats.org/officeDocument/2006/relationships/notesMaster" Target="/ppt/notesMasters/notesMaster1.xml" Id="R38086ae5537142b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2df57cabae64909" /><Relationship Type="http://schemas.openxmlformats.org/officeDocument/2006/relationships/notesMaster" Target="/ppt/notesMasters/notesMaster1.xml" Id="R8f87e9089dc0465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783822037ea4e3c" /><Relationship Type="http://schemas.openxmlformats.org/officeDocument/2006/relationships/notesMaster" Target="/ppt/notesMasters/notesMaster1.xml" Id="R037b8eb657e04ea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71fc84afa14c9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50a5222790342d6" /><Relationship Type="http://schemas.openxmlformats.org/officeDocument/2006/relationships/slideLayout" Target="/ppt/slideLayouts/slideLayout1.xml" Id="Re51b52d601c6435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1b52d601c6435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47916f7ab44801" /><Relationship Type="http://schemas.openxmlformats.org/officeDocument/2006/relationships/notesSlide" Target="/ppt/notesSlides/notesSlide1.xml" Id="R0291134bc8274d1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e05cef992042ba" /><Relationship Type="http://schemas.openxmlformats.org/officeDocument/2006/relationships/notesSlide" Target="/ppt/notesSlides/notesSlide2.xml" Id="R862c879a7666473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d6f46fb00346bb" /><Relationship Type="http://schemas.openxmlformats.org/officeDocument/2006/relationships/notesSlide" Target="/ppt/notesSlides/notesSlide3.xml" Id="R7844535d5837488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f09a8d74bd4799" /><Relationship Type="http://schemas.openxmlformats.org/officeDocument/2006/relationships/notesSlide" Target="/ppt/notesSlides/notesSlide4.xml" Id="R9420e4da45c5404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72b7ee66ce4c5b" /><Relationship Type="http://schemas.openxmlformats.org/officeDocument/2006/relationships/notesSlide" Target="/ppt/notesSlides/notesSlide5.xml" Id="Re187bddced084c4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526a8853e440f9" /><Relationship Type="http://schemas.openxmlformats.org/officeDocument/2006/relationships/notesSlide" Target="/ppt/notesSlides/notesSlide6.xml" Id="Rc85eaf7f263d414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01c970621e436b" /><Relationship Type="http://schemas.openxmlformats.org/officeDocument/2006/relationships/notesSlide" Target="/ppt/notesSlides/notesSlide7.xml" Id="R7403775d0c3a46b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44a9a4a220470e" /><Relationship Type="http://schemas.openxmlformats.org/officeDocument/2006/relationships/notesSlide" Target="/ppt/notesSlides/notesSlide8.xml" Id="R4bf1f8d681304ba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86828528184821" /><Relationship Type="http://schemas.openxmlformats.org/officeDocument/2006/relationships/notesSlide" Target="/ppt/notesSlides/notesSlide9.xml" Id="Rd4bb3e87ab804a0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c5adb5941b479e" /><Relationship Type="http://schemas.openxmlformats.org/officeDocument/2006/relationships/notesSlide" Target="/ppt/notesSlides/notesSlide10.xml" Id="R585184972d5a453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B23519-216E-4BF3-9FB7-E2CE53C87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iBEC International Bioinformatics Engineering Competition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7AC2E6-2BA6-4D89-8D71-27090AA34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8382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000000"/>
                </a:solidFill>
              </a:defRPr>
            </a:pPr>
            <a:r>
              <a:rPr sz="4650" b="1">
                <a:solidFill>
                  <a:srgbClr val="000000"/>
                </a:solidFill>
              </a:rPr>
              <a:t>Technical Abstract Template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0793E1-483C-4601-8012-711856F0D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43200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55555"/>
                </a:solidFill>
              </a:defRPr>
            </a:pPr>
            <a:r>
              <a:rPr sz="2100" b="0">
                <a:solidFill>
                  <a:srgbClr val="555555"/>
                </a:solidFill>
              </a:rPr>
              <a:t>[Project title]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9FD3EE-8611-4367-9DB2-1C725EE79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047750"/>
            <a:ext cx="35623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613F78-463B-4249-A82B-009FEEBB7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762250"/>
            <a:ext cx="2724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55555"/>
                </a:solidFill>
              </a:defRPr>
            </a:pPr>
            <a:r>
              <a:rPr sz="1800" b="1">
                <a:solidFill>
                  <a:srgbClr val="555555"/>
                </a:solidFill>
              </a:rPr>
              <a:t>[Insert project visual, workflow image, or prototype screenshot]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5B726B-7BCB-4FC6-98C0-D0339F5D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[Team name] | [Institution] | [YYYY-MM-DD]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6FFE3E-3DB0-4EEC-A7EF-846B249AA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996640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816C99-41F3-4D2A-BA4A-7AFA6546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Technical Abstract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A10137-B3C4-4A84-B6F0-A8702D72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The project starts from one clear technical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901532-9297-49D9-A1B9-2E9A75CF7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D3335F-E3AB-49BF-8927-FA0B210BA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35623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F4FFD9-9EEC-41E5-A71D-22C7CC5C7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62200"/>
            <a:ext cx="306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Context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033C7B-1ED4-4126-9EFD-273EFB880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71800"/>
            <a:ext cx="306705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- [Biological or bioinformatics setting]</a:t>
            </a:r>
          </a:p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- [Who is affected]</a:t>
            </a:r>
          </a:p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- [Why now]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4D04BF-1A14-44C2-A771-7BEEE0216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292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Frame the need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F69A7B-251F-49C0-8A51-55A5ACF34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95500"/>
            <a:ext cx="35623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D8133E-69CD-4318-B822-535A096CB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62200"/>
            <a:ext cx="306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Gap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E3B43F-9DD6-4CD5-9A82-EACE92A84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71800"/>
            <a:ext cx="306705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- [Current limitation]</a:t>
            </a:r>
          </a:p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- [Data, model, workflow, or usability barrier]</a:t>
            </a:r>
          </a:p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- [Evidence for the gap]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73A557-0678-478D-94BA-2E5137F18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0292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Make the problem concrete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428963-4C60-459B-AC11-0269BEFF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95500"/>
            <a:ext cx="35623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6482B7-FCF8-42CA-BE9B-203A2EF13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62200"/>
            <a:ext cx="306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Goal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47A446-9B2D-4469-AC53-01FE21C4B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971800"/>
            <a:ext cx="306705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- [Measurable objective]</a:t>
            </a:r>
          </a:p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- [Expected technical output]</a:t>
            </a:r>
          </a:p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- [Success criterion]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AADEC0-1C8A-4195-8308-C752BD875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0292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Define the target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86C185-6D62-4DD4-9179-ACDECD1C2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900844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2FF715-AF8F-406B-AB1B-0732DED77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Technical Abstract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CFD820-7869-4F14-AE10-C264AEA15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The proposed solution links input, method, and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CCD886-7AFA-420D-8BCA-DC92917DD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625CB3-D0AE-4C9A-9E21-4783C0594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2857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53D55C-6E9B-4FB2-B744-22689D5D6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47950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Data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D58E40-8105-4D15-9048-BDEE0B7AA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43250"/>
            <a:ext cx="2324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[Sequences, omics, metadata, images, or public datasets]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E72EE4-BDBB-4CB6-8B9D-FB711EE7A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952750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6B35"/>
                </a:solidFill>
              </a:defRPr>
            </a:pPr>
            <a:r>
              <a:rPr sz="2550" b="1">
                <a:solidFill>
                  <a:srgbClr val="FF6B35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646A1C-0BD6-4B0B-A0D7-B016EC843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81250"/>
            <a:ext cx="2857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63849F-E0E7-42D9-836A-D09795E7A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47950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Analysis engine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85DEF8-C288-49A3-99B8-3D72C5D6F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43250"/>
            <a:ext cx="2324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[Model, pipeline, database, statistical test, or platform logic]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703B78-1433-47D9-8423-A0FC41EA2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52750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6B35"/>
                </a:solidFill>
              </a:defRPr>
            </a:pPr>
            <a:r>
              <a:rPr sz="2550" b="1">
                <a:solidFill>
                  <a:srgbClr val="FF6B35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6A0BAE-AAE1-4D72-984D-0F8480DBE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81250"/>
            <a:ext cx="2857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65FACB-AA1F-4016-AB4F-FBF5A11FB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Validated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3E324E-A5D5-466F-B949-F002FD6E9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43250"/>
            <a:ext cx="2324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[Prediction, ranking, report, visualization, or user action]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C05529-C226-4380-BC4A-4BE68DF05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95300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E74B5"/>
                </a:solidFill>
              </a:defRPr>
            </a:pPr>
            <a:r>
              <a:rPr sz="1800" b="1">
                <a:solidFill>
                  <a:srgbClr val="2E74B5"/>
                </a:solidFill>
              </a:rPr>
              <a:t>Core claim: [One sentence explaining why this route is technically credible.]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C6C02E-356E-4630-8A0C-B1ECACB09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923227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BB6611-4845-4B11-BE57-D38AC3C72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Technical Abstract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6A0547-938C-4C2F-9D02-2F0BEB199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Data and workflow are organized for reproducible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539977-FB11-471D-9509-2F23EB5FF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F13351-8CBE-47CD-BD39-1805EA9AD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914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EA9501-1AEC-4711-B61B-982307EC2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Step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D68082-60EC-4DF0-92F9-55453877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133600"/>
            <a:ext cx="2952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ECAD25-9BB4-412A-AC64-BB036E053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26695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10B76B-84DF-4316-A40F-201133703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33600"/>
            <a:ext cx="3524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989CE4-3930-415E-A875-3503665DD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66950"/>
            <a:ext cx="3257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Processing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F8B536-CDE2-4F6E-9CE0-1CC43D0D3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33600"/>
            <a:ext cx="3143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F6342D-104B-46F1-A33F-13CE7131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6695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7B540C-EF3A-418D-97F0-7311E3F9F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914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32BF78-2552-4F0F-9464-C6E6F6E7D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19400"/>
            <a:ext cx="647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36CB34-D825-4E72-893A-F57B7DE4D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628900"/>
            <a:ext cx="2952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4FED7C-F6C6-4C70-AFEE-315B627D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819400"/>
            <a:ext cx="2686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[Dataset]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C47902-B271-453A-9E38-A23F088B3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28900"/>
            <a:ext cx="3524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4EB1B6-8D8C-4C0C-ADFB-39710ACEF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19400"/>
            <a:ext cx="3257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[QC / filtering]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F72784-3600-4F56-A156-69B2D0502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28900"/>
            <a:ext cx="3143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89BEFA-9D9D-49E7-B75E-67B8CB1F3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19400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[Clean data]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B5CCE5-60BD-4B0F-B018-B22F3D809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914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A1F010-9037-4B16-89EC-EA35911AA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86150"/>
            <a:ext cx="647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827A14-FF93-4E16-AB25-5548DE8F7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295650"/>
            <a:ext cx="2952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D43F76-778E-4147-B67C-A898280B1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486150"/>
            <a:ext cx="2686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[Features]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81DC8E-A976-45BF-AF39-9DBFA73AC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95650"/>
            <a:ext cx="3524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A8116C-3160-48A3-8752-054F94B5D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486150"/>
            <a:ext cx="3257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[Model / statistics]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EB1303-8F17-433B-BACA-D9850BA15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295650"/>
            <a:ext cx="3143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0AD4A0-F861-4661-BD64-1C6578ABF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486150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[Scores]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1E5B27-59C1-4622-B150-9C65909DD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914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B970A8-A8FD-4D2B-AD34-F0200A1F4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52900"/>
            <a:ext cx="647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416034-CF22-432E-93F6-4882072C5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962400"/>
            <a:ext cx="2952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B888F2-0FF8-44D1-B9D3-30FC18091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152900"/>
            <a:ext cx="2686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[Benchmarks]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5A13CD-C31B-41C3-AB96-A4AD532BE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962400"/>
            <a:ext cx="3524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F27D0A9-AC10-477C-8EFA-0828C69F2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152900"/>
            <a:ext cx="3257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[Validation]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926DFC2-E497-4E04-93F5-40FE418CD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962400"/>
            <a:ext cx="3143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59F6322-B383-4044-8068-DEFF1BB9C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152900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[Metrics]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A3A64CD-0632-426F-AB4E-8A93229BE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914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5EB1976-BD59-4C05-899E-38B090828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19650"/>
            <a:ext cx="647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D8A4035-3691-403E-B7B4-343B83448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629150"/>
            <a:ext cx="2952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A618BC4-56A5-4951-BA91-F97889DA7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819650"/>
            <a:ext cx="2686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[User test]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9B242CD-9C2B-432B-BE5A-E7A6834BC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29150"/>
            <a:ext cx="3524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BB026E3-0428-476E-BBA9-AE5517A92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819650"/>
            <a:ext cx="3257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[Demo / feedback]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6CFF3B3-DEAE-434E-BC38-77565E34B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629150"/>
            <a:ext cx="3143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8B8F02D-A141-4761-A789-A8DDF9AC9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819650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[Use-case evidence]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9A63633-869C-4A95-BB6F-9BC95012D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988867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4E205C-9916-458C-B199-EE656BA73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Technical Abstract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E93EB3-326F-46AA-B0A6-08D7A74B7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The main method should be understandable in one slide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0EDFCF-B0EA-4CD2-9209-5F237D813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A9A438-7BB5-44F2-9149-1F0E7B563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762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61D883-46FC-4BC0-994B-AD66B733B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765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Method principle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E0882E-6D36-431C-A035-670ECBD6C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43250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- [Explain the core idea without implementation clutter]</a:t>
            </a:r>
          </a:p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- [Name the model, algorithm, database, or statistical method]</a:t>
            </a:r>
          </a:p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- [State the input-output relationship]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53B15B-55F2-4BF2-B91F-C9E99B845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90750"/>
            <a:ext cx="4762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07B20E-DDC5-4146-A388-853012E76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Evaluation design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49ED9B-0E72-464E-BF82-0410E23A6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- Baseline: [comparison method]</a:t>
            </a:r>
          </a:p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- Metric: [AUC/F1/runtime/usability/etc.]</a:t>
            </a:r>
          </a:p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- Validation: [cross-validation, benchmark, case study]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BFD16E-97C6-4F79-88C0-D4401B262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578469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616614-0563-4DAD-89DE-5171F31F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Technical Abstract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383935-479E-4DD0-BF75-D4F7E9223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The prototype turns the method into a usable output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9A2AF6-3E7D-4C86-8DB0-14C573DB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4144E2-F924-41B7-AC94-E64505E99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49530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7EAD87-92C0-45CC-814A-42ADB91C1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24250"/>
            <a:ext cx="361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55555"/>
                </a:solidFill>
              </a:defRPr>
            </a:pPr>
            <a:r>
              <a:rPr sz="1800" b="1">
                <a:solidFill>
                  <a:srgbClr val="555555"/>
                </a:solidFill>
              </a:rPr>
              <a:t>[Insert screenshot, architecture image, or demo capture]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EF1BC5-369F-47E8-AE1D-14E6255A2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907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User-facing behavior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3FEB22-7DE0-42E7-B23B-3C7202E8C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95600"/>
            <a:ext cx="4953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- Interface or command: [how users run it]</a:t>
            </a:r>
          </a:p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- Output view: [what users receive]</a:t>
            </a:r>
          </a:p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- Deployment state: [demo / repository / platform link]</a:t>
            </a:r>
          </a:p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- Reliability note: [what has been tested]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6A5CB2-B923-4027-A6A2-BC01E3529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339407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EE4344-A868-4B35-B0F4-4A3706299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Technical Abstract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E39F35-65DA-42A8-961F-8B79B92F2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Key results show both performance and meaning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BDF36F-29FB-4A1C-8A4D-285522B38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367068-9D2D-4554-B08D-90A0F3C0E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35623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798964-484B-415C-9B4C-F7D3EAA3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62200"/>
            <a:ext cx="306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Performance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D0A641-2960-4115-B7A7-F95AB04DA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71800"/>
            <a:ext cx="306705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[Metric / figure]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[What the audience is seeing]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C4C21B-BB26-42A1-ABC5-CA27241B5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292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What improved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3C68BB-91E2-4808-A9AF-C195A0F41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95500"/>
            <a:ext cx="35623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83D8D9-3A78-4558-AEDB-5FE470C5C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62200"/>
            <a:ext cx="306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Validation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494056-9D77-4803-AEB5-483BD0500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71800"/>
            <a:ext cx="306705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[Comparison / case]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[Why the evidence is reliable]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EC7E27-A4F7-4195-A016-19C5A44E2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0292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Why it holds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88A22E-A013-4876-85E5-FCD08E648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95500"/>
            <a:ext cx="35623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2269E4-7C06-4269-A095-C44CFF523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62200"/>
            <a:ext cx="306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Use case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54FE81-FCD3-4981-A4E2-FFD8E56D7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971800"/>
            <a:ext cx="306705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[Screenshot / example]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[Why this matters to users]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88032D-21E7-4E91-8A93-4083F79AB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0292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Where it applies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2E0BB7-D119-41B7-9706-4A37A3EC0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72869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FD9449-9B4E-4ABF-839F-D260AD067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Technical Abstract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B0410D-47FB-4624-92B4-D137243F3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Innovation should be stated as specific technical advances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ED186C-C432-4682-8832-6329552D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C37C89-2A1A-4974-BA15-F43D8AA6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35623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66DCAC-F1C5-4969-AB33-CF6030010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62200"/>
            <a:ext cx="306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E74BD8-37ED-4B16-A43E-AD55D3AF3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71800"/>
            <a:ext cx="306705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[Novel data integration, curation, annotation, or benchmark]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D61181-7D70-4FBC-BFE6-211E36AD0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292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Evidence 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06C6CA-256F-46CA-B51B-91833C8DA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95500"/>
            <a:ext cx="35623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2C69DD-B80D-4247-85D1-25128CE64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62200"/>
            <a:ext cx="306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Method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F68C4F-E130-42A5-822E-7CA296C6A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71800"/>
            <a:ext cx="306705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[Algorithmic, statistical, workflow, or model improvement]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BC6C07-2DEB-4BBA-83FF-DC335AC4B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0292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Technical logic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0F6704-C2FD-489D-81AF-55890F2B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95500"/>
            <a:ext cx="35623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3AC5BF-B586-411C-B996-1ADEBCF07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62200"/>
            <a:ext cx="306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System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6493F9-6B5F-4684-8736-916194BAA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971800"/>
            <a:ext cx="306705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[Platform, automation, visualization, usability, or deployment contribution]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ED3050-18C2-4C92-B108-9658C7A3D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0292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Practical delivery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03DE44-F42D-4181-8D91-C9782A112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5476116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7AE44A-C5FA-43FA-B2FC-9A3AF92F1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Technical Abstract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C138E2-1426-434A-B569-B3B848D6D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Application value depends on adoption, not only metrics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CDC880-657A-4E8F-8607-A0AED69D3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858DF6-50D2-41D3-9FC8-645BC023C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2381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3DEE25-60A3-43EC-BEB6-823EA2870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238375"/>
            <a:ext cx="2381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FD7C25-57BC-4A05-831E-226BA337D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38375"/>
            <a:ext cx="2381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943243-74D7-44C6-8BE0-7EA797A0C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238375"/>
            <a:ext cx="1714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F26656-B4E0-4DE5-92D3-9D2CAD58C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336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Users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4CFB03-FE45-4876-9F28-A378A82A2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24200"/>
            <a:ext cx="19240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[Researchers, clinicians, students, or industry users]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C0C5CE-E828-4D65-826E-A82B905A2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5336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Value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CCB494-18E4-4C7E-902A-C32295CCB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124200"/>
            <a:ext cx="19240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[Faster analysis, better interpretation, lower cost, or improved reproducibility]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6456D1-1EC4-4090-A8DC-7F8E9E1AA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5336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Limits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3CD101-50D7-40D1-96F7-3F6B0265F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124200"/>
            <a:ext cx="19240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[Data, model, validation, safety, or usability limits]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1ED3CB-9807-4E24-AE73-D2668DF0C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533650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Next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2ECA59-53E0-4FDD-B7B6-5B94330EC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124200"/>
            <a:ext cx="12573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[Concrete next development step]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E17D1E-8ED7-4745-84A1-F584C06AD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499567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3D7DB9-C3FA-424C-BA90-AFF3F6F2C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Technical Abstract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3B65DD-B49A-402C-8EE5-EAFFC2BDD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The final message connects problem, method, and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757609-1BB4-4E50-9641-F4F2C62E3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89DBF9-814C-40CD-A9A5-3F6140E5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38375"/>
            <a:ext cx="990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E74B5"/>
                </a:solidFill>
              </a:defRPr>
            </a:pPr>
            <a:r>
              <a:rPr sz="2700" b="1">
                <a:solidFill>
                  <a:srgbClr val="2E74B5"/>
                </a:solidFill>
              </a:rPr>
              <a:t>[One sentence that the judges should remember.]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D9591D-415C-495A-AA04-665C5595C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35623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C229CD-8AE4-4797-82C3-117001B8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81450"/>
            <a:ext cx="306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Solved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BE39B0-636C-4438-A880-958F2A196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91050"/>
            <a:ext cx="30670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[Problem]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C665C6-EDE6-46D1-956C-4D0532CEA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912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Need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EDCFCB-552F-40EA-A369-954C672FD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714750"/>
            <a:ext cx="35623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6D2608-76EF-4B2D-AECF-83AF1685A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81450"/>
            <a:ext cx="306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Built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BA7F8B-D90E-4B7B-8BEC-85B3849A0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91050"/>
            <a:ext cx="30670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[Method / system]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5786A9-EC5E-4F33-8D4E-F66123852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7912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Logic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64D616-C596-40CA-92E3-6BD773658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14750"/>
            <a:ext cx="35623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8A82F6-3C1E-4669-B7EA-828E6C1C8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981450"/>
            <a:ext cx="306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Proved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7D7006-1C5F-4F9A-8D1A-90F54E06A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591050"/>
            <a:ext cx="30670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[Evidence / result]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258665-1032-413F-B25F-68C60EF04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7912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Credibility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97129B-0C0B-43A4-9D12-B33108EAF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460749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2026-07-06T07:17:17.5690000Z</dcterms:created>
  <dcterms:modified xsi:type="dcterms:W3CDTF">2026-07-06T07:17:17.5690000Z</dcterms:modified>
</coreProperties>
</file>