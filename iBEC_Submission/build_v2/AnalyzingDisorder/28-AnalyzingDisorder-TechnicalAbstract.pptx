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87F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800" b="1">
                <a:solidFill>
                  <a:srgbClr val="17212B"/>
                </a:solidFill>
                <a:latin typeface="Microsoft YaHei"/>
              </a:defRPr>
            </a:pPr>
            <a:r>
              <a:t>DisorderFlow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965960"/>
            <a:ext cx="10424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52606D"/>
                </a:solidFill>
                <a:latin typeface="Microsoft YaHei"/>
              </a:defRPr>
            </a:pPr>
            <a:r>
              <a:t>An Auditable Platform for Antibody Design against Disordered Epitopes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200400"/>
            <a:ext cx="8503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87F6D"/>
                </a:solidFill>
                <a:latin typeface="Microsoft YaHei"/>
              </a:defRPr>
            </a:pPr>
            <a:r>
              <a:t>Team 28 - Analyzing Disorder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3703320"/>
            <a:ext cx="8503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87F6D"/>
                </a:solidFill>
                <a:latin typeface="Microsoft YaHei"/>
              </a:defRPr>
            </a:pPr>
            <a:r>
              <a:t>Qilu University of Technology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4206240"/>
            <a:ext cx="8503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87F6D"/>
                </a:solidFill>
                <a:latin typeface="Microsoft YaHei"/>
              </a:defRPr>
            </a:pPr>
            <a:r>
              <a:t>AI-driven Life Science Discovery | iBEC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4652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2606D"/>
                </a:solidFill>
                <a:latin typeface="Microsoft YaHei"/>
              </a:defRPr>
            </a:pPr>
            <a:r>
              <a:t>Team 28 | DisorderFlow | iBEC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4652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2606D"/>
                </a:solidFill>
                <a:latin typeface="Microsoft YaHei"/>
              </a:defRPr>
            </a:pPr>
            <a:r>
              <a:t>1/10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87F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7212B"/>
                </a:solidFill>
                <a:latin typeface="Microsoft YaHei"/>
              </a:defRPr>
            </a:pPr>
            <a:r>
              <a:t>1. Why Disordered Epitopes?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0584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87F6D"/>
                </a:solidFill>
                <a:latin typeface="Microsoft YaHei"/>
              </a:defRPr>
            </a:pPr>
            <a:r>
              <a:t>Rigid-pose antibody design is poorly matched to conformational heterogeneity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10561320" cy="658368"/>
          </a:xfrm>
          <a:prstGeom prst="roundRect">
            <a:avLst/>
          </a:prstGeom>
          <a:solidFill>
            <a:srgbClr val="E9F5F2"/>
          </a:solidFill>
          <a:ln>
            <a:solidFill>
              <a:srgbClr val="BFD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47088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7212B"/>
                </a:solidFill>
                <a:latin typeface="Microsoft YaHei"/>
              </a:defRPr>
            </a:pPr>
            <a:r>
              <a:t>•  Aβ, tau and α-synuclein are central protein-misfolding targets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560320"/>
            <a:ext cx="10561320" cy="658368"/>
          </a:xfrm>
          <a:prstGeom prst="roundRect">
            <a:avLst/>
          </a:prstGeom>
          <a:solidFill>
            <a:srgbClr val="E9F5F2"/>
          </a:solidFill>
          <a:ln>
            <a:solidFill>
              <a:srgbClr val="BFD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670048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7212B"/>
                </a:solidFill>
                <a:latin typeface="Microsoft YaHei"/>
              </a:defRPr>
            </a:pPr>
            <a:r>
              <a:t>•  One antigen sequence can occupy multiple structural states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383279"/>
            <a:ext cx="10561320" cy="658368"/>
          </a:xfrm>
          <a:prstGeom prst="roundRect">
            <a:avLst/>
          </a:prstGeom>
          <a:solidFill>
            <a:srgbClr val="E9F5F2"/>
          </a:solidFill>
          <a:ln>
            <a:solidFill>
              <a:srgbClr val="BFD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3493008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7212B"/>
                </a:solidFill>
                <a:latin typeface="Microsoft YaHei"/>
              </a:defRPr>
            </a:pPr>
            <a:r>
              <a:t>•  A candidate should not be selected by one pose or one uncalibrated confidence score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206240"/>
            <a:ext cx="10561320" cy="658368"/>
          </a:xfrm>
          <a:prstGeom prst="roundRect">
            <a:avLst/>
          </a:prstGeom>
          <a:solidFill>
            <a:srgbClr val="E9F5F2"/>
          </a:solidFill>
          <a:ln>
            <a:solidFill>
              <a:srgbClr val="BFD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4315968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7212B"/>
                </a:solidFill>
                <a:latin typeface="Microsoft YaHei"/>
              </a:defRPr>
            </a:pPr>
            <a:r>
              <a:t>•  Engineering goal: auditable generation, counterfactual controls and uncertainty-aware filtering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4652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2606D"/>
                </a:solidFill>
                <a:latin typeface="Microsoft YaHei"/>
              </a:defRPr>
            </a:pPr>
            <a:r>
              <a:t>Team 28 | DisorderFlow | iBEC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0" y="644652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2606D"/>
                </a:solidFill>
                <a:latin typeface="Microsoft YaHei"/>
              </a:defRPr>
            </a:pPr>
            <a:r>
              <a:t>2/10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87F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7212B"/>
                </a:solidFill>
                <a:latin typeface="Microsoft YaHei"/>
              </a:defRPr>
            </a:pPr>
            <a:r>
              <a:t>2. Original Contributions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0584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87F6D"/>
                </a:solidFill>
                <a:latin typeface="Microsoft YaHei"/>
              </a:defRPr>
            </a:pPr>
            <a:r>
              <a:t>A platform, not a single opaque score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10561320" cy="658368"/>
          </a:xfrm>
          <a:prstGeom prst="roundRect">
            <a:avLst/>
          </a:prstGeom>
          <a:solidFill>
            <a:srgbClr val="E9F5F2"/>
          </a:solidFill>
          <a:ln>
            <a:solidFill>
              <a:srgbClr val="BFD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47088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7212B"/>
                </a:solidFill>
                <a:latin typeface="Microsoft YaHei"/>
              </a:defRPr>
            </a:pPr>
            <a:r>
              <a:t>•  ECLS: complex versus peptide-stripped structural likelihood contrast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560320"/>
            <a:ext cx="10561320" cy="658368"/>
          </a:xfrm>
          <a:prstGeom prst="roundRect">
            <a:avLst/>
          </a:prstGeom>
          <a:solidFill>
            <a:srgbClr val="E9F5F2"/>
          </a:solidFill>
          <a:ln>
            <a:solidFill>
              <a:srgbClr val="BFD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670048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7212B"/>
                </a:solidFill>
                <a:latin typeface="Microsoft YaHei"/>
              </a:defRPr>
            </a:pPr>
            <a:r>
              <a:t>•  Position-sensitive antigen-disorder routing in a Bayesian Flow Network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383279"/>
            <a:ext cx="10561320" cy="658368"/>
          </a:xfrm>
          <a:prstGeom prst="roundRect">
            <a:avLst/>
          </a:prstGeom>
          <a:solidFill>
            <a:srgbClr val="E9F5F2"/>
          </a:solidFill>
          <a:ln>
            <a:solidFill>
              <a:srgbClr val="BFD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3493008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7212B"/>
                </a:solidFill>
                <a:latin typeface="Microsoft YaHei"/>
              </a:defRPr>
            </a:pPr>
            <a:r>
              <a:t>•  BFN expands H3 exploration, with an explicitly measured developability tradeoff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206240"/>
            <a:ext cx="10561320" cy="658368"/>
          </a:xfrm>
          <a:prstGeom prst="roundRect">
            <a:avLst/>
          </a:prstGeom>
          <a:solidFill>
            <a:srgbClr val="E9F5F2"/>
          </a:solidFill>
          <a:ln>
            <a:solidFill>
              <a:srgbClr val="BFD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4315968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7212B"/>
                </a:solidFill>
                <a:latin typeface="Microsoft YaHei"/>
              </a:defRPr>
            </a:pPr>
            <a:r>
              <a:t>•  Fail-closed binder confidence: abstain when experimental labels are absent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4652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2606D"/>
                </a:solidFill>
                <a:latin typeface="Microsoft YaHei"/>
              </a:defRPr>
            </a:pPr>
            <a:r>
              <a:t>Team 28 | DisorderFlow | iBEC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0" y="644652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2606D"/>
                </a:solidFill>
                <a:latin typeface="Microsoft YaHei"/>
              </a:defRPr>
            </a:pPr>
            <a:r>
              <a:t>3/10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87F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7212B"/>
                </a:solidFill>
                <a:latin typeface="Microsoft YaHei"/>
              </a:defRPr>
            </a:pPr>
            <a:r>
              <a:t>3. End-to-End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0584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87F6D"/>
                </a:solidFill>
                <a:latin typeface="Microsoft YaHei"/>
              </a:defRPr>
            </a:pPr>
            <a:r>
              <a:t>Structure → generation → multi-state scoring → filtering → triage → handoff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10561320" cy="658368"/>
          </a:xfrm>
          <a:prstGeom prst="roundRect">
            <a:avLst/>
          </a:prstGeom>
          <a:solidFill>
            <a:srgbClr val="E9F5F2"/>
          </a:solidFill>
          <a:ln>
            <a:solidFill>
              <a:srgbClr val="BFD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47088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7212B"/>
                </a:solidFill>
                <a:latin typeface="Microsoft YaHei"/>
              </a:defRPr>
            </a:pPr>
            <a:r>
              <a:t>•  BFN, ProteinMPNN and ESM-IF matched workflows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560320"/>
            <a:ext cx="10561320" cy="658368"/>
          </a:xfrm>
          <a:prstGeom prst="roundRect">
            <a:avLst/>
          </a:prstGeom>
          <a:solidFill>
            <a:srgbClr val="E9F5F2"/>
          </a:solidFill>
          <a:ln>
            <a:solidFill>
              <a:srgbClr val="BFD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670048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7212B"/>
                </a:solidFill>
                <a:latin typeface="Microsoft YaHei"/>
              </a:defRPr>
            </a:pPr>
            <a:r>
              <a:t>•  Gradio interface plus reproducible command-line runners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383279"/>
            <a:ext cx="10561320" cy="658368"/>
          </a:xfrm>
          <a:prstGeom prst="roundRect">
            <a:avLst/>
          </a:prstGeom>
          <a:solidFill>
            <a:srgbClr val="E9F5F2"/>
          </a:solidFill>
          <a:ln>
            <a:solidFill>
              <a:srgbClr val="BFD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3493008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7212B"/>
                </a:solidFill>
                <a:latin typeface="Microsoft YaHei"/>
              </a:defRPr>
            </a:pPr>
            <a:r>
              <a:t>•  AF2-Multimer through a persistent WSL2 GPU worker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206240"/>
            <a:ext cx="10561320" cy="658368"/>
          </a:xfrm>
          <a:prstGeom prst="roundRect">
            <a:avLst/>
          </a:prstGeom>
          <a:solidFill>
            <a:srgbClr val="E9F5F2"/>
          </a:solidFill>
          <a:ln>
            <a:solidFill>
              <a:srgbClr val="BFD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4315968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7212B"/>
                </a:solidFill>
                <a:latin typeface="Microsoft YaHei"/>
              </a:defRPr>
            </a:pPr>
            <a:r>
              <a:t>•  Developability, diversity, provenance and claim-boundary exports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4652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2606D"/>
                </a:solidFill>
                <a:latin typeface="Microsoft YaHei"/>
              </a:defRPr>
            </a:pPr>
            <a:r>
              <a:t>Team 28 | DisorderFlow | iBEC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0" y="644652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2606D"/>
                </a:solidFill>
                <a:latin typeface="Microsoft YaHei"/>
              </a:defRPr>
            </a:pPr>
            <a:r>
              <a:t>4/10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87F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7212B"/>
                </a:solidFill>
                <a:latin typeface="Microsoft YaHei"/>
              </a:defRPr>
            </a:pPr>
            <a:r>
              <a:t>4. Frozen ECLS Temporal Result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0584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87F6D"/>
                </a:solidFill>
                <a:latin typeface="Microsoft YaHei"/>
              </a:defRPr>
            </a:pPr>
            <a:r>
              <a:t>31 structures | 15 antigen clusters | 200 shuffles per record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10561320" cy="658368"/>
          </a:xfrm>
          <a:prstGeom prst="roundRect">
            <a:avLst/>
          </a:prstGeom>
          <a:solidFill>
            <a:srgbClr val="E9F5F2"/>
          </a:solidFill>
          <a:ln>
            <a:solidFill>
              <a:srgbClr val="BFD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47088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7212B"/>
                </a:solidFill>
                <a:latin typeface="Microsoft YaHei"/>
              </a:defRPr>
            </a:pPr>
            <a:r>
              <a:t>•  Mean native advantage: 0.1723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560320"/>
            <a:ext cx="10561320" cy="658368"/>
          </a:xfrm>
          <a:prstGeom prst="roundRect">
            <a:avLst/>
          </a:prstGeom>
          <a:solidFill>
            <a:srgbClr val="E9F5F2"/>
          </a:solidFill>
          <a:ln>
            <a:solidFill>
              <a:srgbClr val="BFD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670048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7212B"/>
                </a:solidFill>
                <a:latin typeface="Microsoft YaHei"/>
              </a:defRPr>
            </a:pPr>
            <a:r>
              <a:t>•  Cluster-bootstrap 95% CI: [0.0592, 0.2919]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383279"/>
            <a:ext cx="10561320" cy="658368"/>
          </a:xfrm>
          <a:prstGeom prst="roundRect">
            <a:avLst/>
          </a:prstGeom>
          <a:solidFill>
            <a:srgbClr val="E9F5F2"/>
          </a:solidFill>
          <a:ln>
            <a:solidFill>
              <a:srgbClr val="BFD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3493008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7212B"/>
                </a:solidFill>
                <a:latin typeface="Microsoft YaHei"/>
              </a:defRPr>
            </a:pPr>
            <a:r>
              <a:t>•  Positive clusters: 12/15 (80%)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206240"/>
            <a:ext cx="10561320" cy="658368"/>
          </a:xfrm>
          <a:prstGeom prst="roundRect">
            <a:avLst/>
          </a:prstGeom>
          <a:solidFill>
            <a:srgbClr val="E9F5F2"/>
          </a:solidFill>
          <a:ln>
            <a:solidFill>
              <a:srgbClr val="BFD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4315968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7212B"/>
                </a:solidFill>
                <a:latin typeface="Microsoft YaHei"/>
              </a:defRPr>
            </a:pPr>
            <a:r>
              <a:t>•  Bounded claim: structural sequence contrast, not affinity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4652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2606D"/>
                </a:solidFill>
                <a:latin typeface="Microsoft YaHei"/>
              </a:defRPr>
            </a:pPr>
            <a:r>
              <a:t>Team 28 | DisorderFlow | iBEC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0" y="644652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2606D"/>
                </a:solidFill>
                <a:latin typeface="Microsoft YaHei"/>
              </a:defRPr>
            </a:pPr>
            <a:r>
              <a:t>5/10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87F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7212B"/>
                </a:solidFill>
                <a:latin typeface="Microsoft YaHei"/>
              </a:defRPr>
            </a:pPr>
            <a:r>
              <a:t>5. Aβ Candidate Engineering Funnel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0584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87F6D"/>
                </a:solidFill>
                <a:latin typeface="Microsoft YaHei"/>
              </a:defRPr>
            </a:pPr>
            <a:r>
              <a:t>A frozen, auditable 3D6/4HIX case study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10561320" cy="658368"/>
          </a:xfrm>
          <a:prstGeom prst="roundRect">
            <a:avLst/>
          </a:prstGeom>
          <a:solidFill>
            <a:srgbClr val="E9F5F2"/>
          </a:solidFill>
          <a:ln>
            <a:solidFill>
              <a:srgbClr val="BFD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47088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7212B"/>
                </a:solidFill>
                <a:latin typeface="Microsoft YaHei"/>
              </a:defRPr>
            </a:pPr>
            <a:r>
              <a:t>•  481 source memberships → 352 unique candidates including native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560320"/>
            <a:ext cx="10561320" cy="658368"/>
          </a:xfrm>
          <a:prstGeom prst="roundRect">
            <a:avLst/>
          </a:prstGeom>
          <a:solidFill>
            <a:srgbClr val="E9F5F2"/>
          </a:solidFill>
          <a:ln>
            <a:solidFill>
              <a:srgbClr val="BFD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670048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7212B"/>
                </a:solidFill>
                <a:latin typeface="Microsoft YaHei"/>
              </a:defRPr>
            </a:pPr>
            <a:r>
              <a:t>•  77 pass computational gates → 24 diverse candidates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383279"/>
            <a:ext cx="10561320" cy="658368"/>
          </a:xfrm>
          <a:prstGeom prst="roundRect">
            <a:avLst/>
          </a:prstGeom>
          <a:solidFill>
            <a:srgbClr val="E9F5F2"/>
          </a:solidFill>
          <a:ln>
            <a:solidFill>
              <a:srgbClr val="BFD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3493008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7212B"/>
                </a:solidFill>
                <a:latin typeface="Microsoft YaHei"/>
              </a:defRPr>
            </a:pPr>
            <a:r>
              <a:t>•  27 entities × 3 AF2 seeds = 81/81 successful predictions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206240"/>
            <a:ext cx="10561320" cy="658368"/>
          </a:xfrm>
          <a:prstGeom prst="roundRect">
            <a:avLst/>
          </a:prstGeom>
          <a:solidFill>
            <a:srgbClr val="E9F5F2"/>
          </a:solidFill>
          <a:ln>
            <a:solidFill>
              <a:srgbClr val="BFD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4315968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7212B"/>
                </a:solidFill>
                <a:latin typeface="Microsoft YaHei"/>
              </a:defRPr>
            </a:pPr>
            <a:r>
              <a:t>•  16 pass AF2/PRODIGY gates → 12 final computational candidates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4652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2606D"/>
                </a:solidFill>
                <a:latin typeface="Microsoft YaHei"/>
              </a:defRPr>
            </a:pPr>
            <a:r>
              <a:t>Team 28 | DisorderFlow | iBEC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0" y="644652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2606D"/>
                </a:solidFill>
                <a:latin typeface="Microsoft YaHei"/>
              </a:defRPr>
            </a:pPr>
            <a:r>
              <a:t>6/10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87F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7212B"/>
                </a:solidFill>
                <a:latin typeface="Microsoft YaHei"/>
              </a:defRPr>
            </a:pPr>
            <a:r>
              <a:t>6. Multi-Seed Structural Triage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0584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87F6D"/>
                </a:solidFill>
                <a:latin typeface="Microsoft YaHei"/>
              </a:defRPr>
            </a:pPr>
            <a:r>
              <a:t>Small score changes are reported with uncertainty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10561320" cy="658368"/>
          </a:xfrm>
          <a:prstGeom prst="roundRect">
            <a:avLst/>
          </a:prstGeom>
          <a:solidFill>
            <a:srgbClr val="E9F5F2"/>
          </a:solidFill>
          <a:ln>
            <a:solidFill>
              <a:srgbClr val="BFD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47088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7212B"/>
                </a:solidFill>
                <a:latin typeface="Microsoft YaHei"/>
              </a:defRPr>
            </a:pPr>
            <a:r>
              <a:t>•  Native median ipTM: 0.4762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560320"/>
            <a:ext cx="10561320" cy="658368"/>
          </a:xfrm>
          <a:prstGeom prst="roundRect">
            <a:avLst/>
          </a:prstGeom>
          <a:solidFill>
            <a:srgbClr val="E9F5F2"/>
          </a:solidFill>
          <a:ln>
            <a:solidFill>
              <a:srgbClr val="BFD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670048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7212B"/>
                </a:solidFill>
                <a:latin typeface="Microsoft YaHei"/>
              </a:defRPr>
            </a:pPr>
            <a:r>
              <a:t>•  Candidate median ipTM range: 0.4763-0.5034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383279"/>
            <a:ext cx="10561320" cy="658368"/>
          </a:xfrm>
          <a:prstGeom prst="roundRect">
            <a:avLst/>
          </a:prstGeom>
          <a:solidFill>
            <a:srgbClr val="E9F5F2"/>
          </a:solidFill>
          <a:ln>
            <a:solidFill>
              <a:srgbClr val="BFD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3493008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7212B"/>
                </a:solidFill>
                <a:latin typeface="Microsoft YaHei"/>
              </a:defRPr>
            </a:pPr>
            <a:r>
              <a:t>•  Candidate seed ranges: 0.0030-0.0087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206240"/>
            <a:ext cx="10561320" cy="658368"/>
          </a:xfrm>
          <a:prstGeom prst="roundRect">
            <a:avLst/>
          </a:prstGeom>
          <a:solidFill>
            <a:srgbClr val="E9F5F2"/>
          </a:solidFill>
          <a:ln>
            <a:solidFill>
              <a:srgbClr val="BFD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4315968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7212B"/>
                </a:solidFill>
                <a:latin typeface="Microsoft YaHei"/>
              </a:defRPr>
            </a:pPr>
            <a:r>
              <a:t>•  Interface PAE ≈ 26: candidates remain computational hypotheses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4652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2606D"/>
                </a:solidFill>
                <a:latin typeface="Microsoft YaHei"/>
              </a:defRPr>
            </a:pPr>
            <a:r>
              <a:t>Team 28 | DisorderFlow | iBEC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0" y="644652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2606D"/>
                </a:solidFill>
                <a:latin typeface="Microsoft YaHei"/>
              </a:defRPr>
            </a:pPr>
            <a:r>
              <a:t>7/10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87F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7212B"/>
                </a:solidFill>
                <a:latin typeface="Microsoft YaHei"/>
              </a:defRPr>
            </a:pPr>
            <a:r>
              <a:t>7. Evidence Audit and Second Target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0584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87F6D"/>
                </a:solidFill>
                <a:latin typeface="Microsoft YaHei"/>
              </a:defRPr>
            </a:pPr>
            <a:r>
              <a:t>Correcting claims is part of the engineering workflow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10561320" cy="658368"/>
          </a:xfrm>
          <a:prstGeom prst="roundRect">
            <a:avLst/>
          </a:prstGeom>
          <a:solidFill>
            <a:srgbClr val="E9F5F2"/>
          </a:solidFill>
          <a:ln>
            <a:solidFill>
              <a:srgbClr val="BFD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47088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7212B"/>
                </a:solidFill>
                <a:latin typeface="Microsoft YaHei"/>
              </a:defRPr>
            </a:pPr>
            <a:r>
              <a:t>•  1,289 records × 5 conformations; 219 have exact DisProt disorder-region evidence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560320"/>
            <a:ext cx="10561320" cy="658368"/>
          </a:xfrm>
          <a:prstGeom prst="roundRect">
            <a:avLst/>
          </a:prstGeom>
          <a:solidFill>
            <a:srgbClr val="E9F5F2"/>
          </a:solidFill>
          <a:ln>
            <a:solidFill>
              <a:srgbClr val="BFD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670048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7212B"/>
                </a:solidFill>
                <a:latin typeface="Microsoft YaHei"/>
              </a:defRPr>
            </a:pPr>
            <a:r>
              <a:t>•  The unsupported phrase '800+ natural IDPs' has been removed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383279"/>
            <a:ext cx="10561320" cy="658368"/>
          </a:xfrm>
          <a:prstGeom prst="roundRect">
            <a:avLst/>
          </a:prstGeom>
          <a:solidFill>
            <a:srgbClr val="E9F5F2"/>
          </a:solidFill>
          <a:ln>
            <a:solidFill>
              <a:srgbClr val="BFD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3493008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7212B"/>
                </a:solidFill>
                <a:latin typeface="Microsoft YaHei"/>
              </a:defRPr>
            </a:pPr>
            <a:r>
              <a:t>•  Tau/5MP3: correct 13-aa H3, five poses, 275 candidates including native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206240"/>
            <a:ext cx="10561320" cy="658368"/>
          </a:xfrm>
          <a:prstGeom prst="roundRect">
            <a:avLst/>
          </a:prstGeom>
          <a:solidFill>
            <a:srgbClr val="E9F5F2"/>
          </a:solidFill>
          <a:ln>
            <a:solidFill>
              <a:srgbClr val="BFD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4315968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7212B"/>
                </a:solidFill>
                <a:latin typeface="Microsoft YaHei"/>
              </a:defRPr>
            </a:pPr>
            <a:r>
              <a:t>•  Eight diverse Tau candidates; minimum pairwise Hamming distance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4652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2606D"/>
                </a:solidFill>
                <a:latin typeface="Microsoft YaHei"/>
              </a:defRPr>
            </a:pPr>
            <a:r>
              <a:t>Team 28 | DisorderFlow | iBEC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0" y="644652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2606D"/>
                </a:solidFill>
                <a:latin typeface="Microsoft YaHei"/>
              </a:defRPr>
            </a:pPr>
            <a:r>
              <a:t>8/10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87F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7212B"/>
                </a:solidFill>
                <a:latin typeface="Microsoft YaHei"/>
              </a:defRPr>
            </a:pPr>
            <a:r>
              <a:t>8. Engineering and Translation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0584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87F6D"/>
                </a:solidFill>
                <a:latin typeface="Microsoft YaHei"/>
              </a:defRPr>
            </a:pPr>
            <a:r>
              <a:t>Computational output is converted into an auditable handoff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10561320" cy="658368"/>
          </a:xfrm>
          <a:prstGeom prst="roundRect">
            <a:avLst/>
          </a:prstGeom>
          <a:solidFill>
            <a:srgbClr val="E9F5F2"/>
          </a:solidFill>
          <a:ln>
            <a:solidFill>
              <a:srgbClr val="BFD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47088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7212B"/>
                </a:solidFill>
                <a:latin typeface="Microsoft YaHei"/>
              </a:defRPr>
            </a:pPr>
            <a:r>
              <a:t>•  Secreted scFv contract: signal-VH-(G4S)3-VL-G4S-His6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560320"/>
            <a:ext cx="10561320" cy="658368"/>
          </a:xfrm>
          <a:prstGeom prst="roundRect">
            <a:avLst/>
          </a:prstGeom>
          <a:solidFill>
            <a:srgbClr val="E9F5F2"/>
          </a:solidFill>
          <a:ln>
            <a:solidFill>
              <a:srgbClr val="BFD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670048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7212B"/>
                </a:solidFill>
                <a:latin typeface="Microsoft YaHei"/>
              </a:defRPr>
            </a:pPr>
            <a:r>
              <a:t>•  12 candidates plus native and counterfactual sequence controls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383279"/>
            <a:ext cx="10561320" cy="658368"/>
          </a:xfrm>
          <a:prstGeom prst="roundRect">
            <a:avLst/>
          </a:prstGeom>
          <a:solidFill>
            <a:srgbClr val="E9F5F2"/>
          </a:solidFill>
          <a:ln>
            <a:solidFill>
              <a:srgbClr val="BFD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3493008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7212B"/>
                </a:solidFill>
                <a:latin typeface="Microsoft YaHei"/>
              </a:defRPr>
            </a:pPr>
            <a:r>
              <a:t>•  Blinded assay layouts and measurement import schemas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206240"/>
            <a:ext cx="10561320" cy="658368"/>
          </a:xfrm>
          <a:prstGeom prst="roundRect">
            <a:avLst/>
          </a:prstGeom>
          <a:solidFill>
            <a:srgbClr val="E9F5F2"/>
          </a:solidFill>
          <a:ln>
            <a:solidFill>
              <a:srgbClr val="BFD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4315968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7212B"/>
                </a:solidFill>
                <a:latin typeface="Microsoft YaHei"/>
              </a:defRPr>
            </a:pPr>
            <a:r>
              <a:t>•  No false probability: binder-confidence status is abstain_not_trained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4652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2606D"/>
                </a:solidFill>
                <a:latin typeface="Microsoft YaHei"/>
              </a:defRPr>
            </a:pPr>
            <a:r>
              <a:t>Team 28 | DisorderFlow | iBEC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0" y="644652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2606D"/>
                </a:solidFill>
                <a:latin typeface="Microsoft YaHei"/>
              </a:defRPr>
            </a:pPr>
            <a:r>
              <a:t>9/10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87F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7212B"/>
                </a:solidFill>
                <a:latin typeface="Microsoft YaHei"/>
              </a:defRPr>
            </a:pPr>
            <a:r>
              <a:t>9. iBEC Deliverables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00584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87F6D"/>
                </a:solidFill>
                <a:latin typeface="Microsoft YaHei"/>
              </a:defRPr>
            </a:pPr>
            <a:r>
              <a:t>Primary track: AI-driven Life Science Discovery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10561320" cy="658368"/>
          </a:xfrm>
          <a:prstGeom prst="roundRect">
            <a:avLst/>
          </a:prstGeom>
          <a:solidFill>
            <a:srgbClr val="E9F5F2"/>
          </a:solidFill>
          <a:ln>
            <a:solidFill>
              <a:srgbClr val="BFD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47088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7212B"/>
                </a:solidFill>
                <a:latin typeface="Microsoft YaHei"/>
              </a:defRPr>
            </a:pPr>
            <a:r>
              <a:t>•  Runnable platform and 4HIX demonstration workflow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560320"/>
            <a:ext cx="10561320" cy="658368"/>
          </a:xfrm>
          <a:prstGeom prst="roundRect">
            <a:avLst/>
          </a:prstGeom>
          <a:solidFill>
            <a:srgbClr val="E9F5F2"/>
          </a:solidFill>
          <a:ln>
            <a:solidFill>
              <a:srgbClr val="BFD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670048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7212B"/>
                </a:solidFill>
                <a:latin typeface="Microsoft YaHei"/>
              </a:defRPr>
            </a:pPr>
            <a:r>
              <a:t>•  Frozen ECLS benchmark and 68-file checksummed evidence manifest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383279"/>
            <a:ext cx="10561320" cy="658368"/>
          </a:xfrm>
          <a:prstGeom prst="roundRect">
            <a:avLst/>
          </a:prstGeom>
          <a:solidFill>
            <a:srgbClr val="E9F5F2"/>
          </a:solidFill>
          <a:ln>
            <a:solidFill>
              <a:srgbClr val="BFD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3493008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7212B"/>
                </a:solidFill>
                <a:latin typeface="Microsoft YaHei"/>
              </a:defRPr>
            </a:pPr>
            <a:r>
              <a:t>•  Aβ 352→24→12 case study with 81 hashed AF2 structures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206240"/>
            <a:ext cx="10561320" cy="658368"/>
          </a:xfrm>
          <a:prstGeom prst="roundRect">
            <a:avLst/>
          </a:prstGeom>
          <a:solidFill>
            <a:srgbClr val="E9F5F2"/>
          </a:solidFill>
          <a:ln>
            <a:solidFill>
              <a:srgbClr val="BFD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4315968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7212B"/>
                </a:solidFill>
                <a:latin typeface="Microsoft YaHei"/>
              </a:defRPr>
            </a:pPr>
            <a:r>
              <a:t>•  Completed audits and Tau 275→163→8 second-target extension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029200"/>
            <a:ext cx="10561320" cy="658368"/>
          </a:xfrm>
          <a:prstGeom prst="roundRect">
            <a:avLst/>
          </a:prstGeom>
          <a:solidFill>
            <a:srgbClr val="E9F5F2"/>
          </a:solidFill>
          <a:ln>
            <a:solidFill>
              <a:srgbClr val="BFD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5138928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7212B"/>
                </a:solidFill>
                <a:latin typeface="Microsoft YaHei"/>
              </a:defRPr>
            </a:pPr>
            <a:r>
              <a:t>•  Current boundary: no experimental binding, affinity or therapeutic claim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44652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2606D"/>
                </a:solidFill>
                <a:latin typeface="Microsoft YaHei"/>
              </a:defRPr>
            </a:pPr>
            <a:r>
              <a:t>Team 28 | DisorderFlow | iBEC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89920" y="644652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52606D"/>
                </a:solidFill>
                <a:latin typeface="Microsoft YaHei"/>
              </a:defRPr>
            </a:pPr>
            <a:r>
              <a:t>10/10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DisorderFlow iBEC Technical Abstract</dc:title>
  <dc:subject/>
  <dc:creator>DisorderFlow</dc:creator>
  <cp:keywords/>
  <dc:description>generated using python-pptx</dc:description>
  <cp:lastModifiedBy>DisorderFlow</cp:lastModifiedBy>
  <cp:revision>1</cp:revision>
  <dcterms:created xsi:type="dcterms:W3CDTF">2013-01-27T09:14:16Z</dcterms:created>
  <dcterms:modified xsi:type="dcterms:W3CDTF">2013-01-27T09:15:58Z</dcterms:modified>
  <cp:category/>
</cp:coreProperties>
</file>