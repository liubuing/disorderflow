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17212B"/>
                </a:solidFill>
                <a:latin typeface="Microsoft YaHei"/>
              </a:defRPr>
            </a:pPr>
            <a:r>
              <a:t>DisorderFlow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965960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52606D"/>
                </a:solidFill>
                <a:latin typeface="Microsoft YaHei"/>
              </a:defRPr>
            </a:pPr>
            <a:r>
              <a:t>An Auditable Platform for Antibody Design against Disordered Epitopes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200400"/>
            <a:ext cx="8503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87F6D"/>
                </a:solidFill>
                <a:latin typeface="Microsoft YaHei"/>
              </a:defRPr>
            </a:pPr>
            <a:r>
              <a:t>Team 28 - Analyzing Disorder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703320"/>
            <a:ext cx="8503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87F6D"/>
                </a:solidFill>
                <a:latin typeface="Microsoft YaHei"/>
              </a:defRPr>
            </a:pPr>
            <a:r>
              <a:t>Qilu University of Technology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206240"/>
            <a:ext cx="8503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87F6D"/>
                </a:solidFill>
                <a:latin typeface="Microsoft YaHei"/>
              </a:defRPr>
            </a:pPr>
            <a:r>
              <a:t>AI-driven Life Science Discovery | iBEC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2606D"/>
                </a:solidFill>
                <a:latin typeface="Microsoft YaHei"/>
              </a:defRPr>
            </a:pPr>
            <a:r>
              <a:t>Team 28 | DisorderFlow | iBEC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2606D"/>
                </a:solidFill>
                <a:latin typeface="Microsoft YaHei"/>
              </a:defRPr>
            </a:pPr>
            <a:r>
              <a:t>1/10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7212B"/>
                </a:solidFill>
                <a:latin typeface="Microsoft YaHei"/>
              </a:defRPr>
            </a:pPr>
            <a:r>
              <a:t>1. Why Disordered Epitopes?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87F6D"/>
                </a:solidFill>
                <a:latin typeface="Microsoft YaHei"/>
              </a:defRPr>
            </a:pPr>
            <a:r>
              <a:t>Rigid-pose antibody design is poorly matched to conformational heterogeneity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4708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Aβ, tau and α-synuclein are central protein-misfolding targets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60320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67004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One antigen sequence can occupy multiple structural states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383279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49300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A candidate should not be selected by one pose or one uncalibrated confidence score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206240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31596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Engineering goal: auditable generation, counterfactual controls and uncertainty-aware filtering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4652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2606D"/>
                </a:solidFill>
                <a:latin typeface="Microsoft YaHei"/>
              </a:defRPr>
            </a:pPr>
            <a:r>
              <a:t>Team 28 | DisorderFlow | iBEC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4652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2606D"/>
                </a:solidFill>
                <a:latin typeface="Microsoft YaHei"/>
              </a:defRPr>
            </a:pPr>
            <a:r>
              <a:t>2/10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7212B"/>
                </a:solidFill>
                <a:latin typeface="Microsoft YaHei"/>
              </a:defRPr>
            </a:pPr>
            <a:r>
              <a:t>2. Original 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87F6D"/>
                </a:solidFill>
                <a:latin typeface="Microsoft YaHei"/>
              </a:defRPr>
            </a:pPr>
            <a:r>
              <a:t>A platform, not a single opaque score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4708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ECLS: complex versus peptide-stripped structural likelihood contrast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60320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67004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Position-sensitive antigen-disorder routing in a Bayesian Flow Network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383279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49300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BFN expands H3 exploration, with an explicitly measured developability tradeoff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206240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31596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Fail-closed binder confidence: abstain when experimental labels are absent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4652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2606D"/>
                </a:solidFill>
                <a:latin typeface="Microsoft YaHei"/>
              </a:defRPr>
            </a:pPr>
            <a:r>
              <a:t>Team 28 | DisorderFlow | iBEC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4652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2606D"/>
                </a:solidFill>
                <a:latin typeface="Microsoft YaHei"/>
              </a:defRPr>
            </a:pPr>
            <a:r>
              <a:t>3/10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7212B"/>
                </a:solidFill>
                <a:latin typeface="Microsoft YaHei"/>
              </a:defRPr>
            </a:pPr>
            <a:r>
              <a:t>3. End-to-End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87F6D"/>
                </a:solidFill>
                <a:latin typeface="Microsoft YaHei"/>
              </a:defRPr>
            </a:pPr>
            <a:r>
              <a:t>Structure → generation → multi-state scoring → filtering → validation → handoff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4708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BFN, ProteinMPNN and ESM-IF matched workflows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60320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67004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Gradio interface plus reproducible command-line runners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383279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49300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AF2-Multimer through a persistent WSL2 GPU worker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206240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31596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Developability, diversity, provenance and claim-boundary exports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4652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2606D"/>
                </a:solidFill>
                <a:latin typeface="Microsoft YaHei"/>
              </a:defRPr>
            </a:pPr>
            <a:r>
              <a:t>Team 28 | DisorderFlow | iBEC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4652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2606D"/>
                </a:solidFill>
                <a:latin typeface="Microsoft YaHei"/>
              </a:defRPr>
            </a:pPr>
            <a:r>
              <a:t>4/10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7212B"/>
                </a:solidFill>
                <a:latin typeface="Microsoft YaHei"/>
              </a:defRPr>
            </a:pPr>
            <a:r>
              <a:t>4. Frozen ECLS Temporal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87F6D"/>
                </a:solidFill>
                <a:latin typeface="Microsoft YaHei"/>
              </a:defRPr>
            </a:pPr>
            <a:r>
              <a:t>31 structures | 15 antigen clusters | 200 shuffles per record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4708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Mean native advantage: 0.1723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60320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67004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Cluster-bootstrap 95% CI: [0.0592, 0.2919]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383279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49300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Positive clusters: 12/15 (80%)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206240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31596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Bounded claim: structural sequence contrast, not affinity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4652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2606D"/>
                </a:solidFill>
                <a:latin typeface="Microsoft YaHei"/>
              </a:defRPr>
            </a:pPr>
            <a:r>
              <a:t>Team 28 | DisorderFlow | iBEC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4652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2606D"/>
                </a:solidFill>
                <a:latin typeface="Microsoft YaHei"/>
              </a:defRPr>
            </a:pPr>
            <a:r>
              <a:t>5/10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7212B"/>
                </a:solidFill>
                <a:latin typeface="Microsoft YaHei"/>
              </a:defRPr>
            </a:pPr>
            <a:r>
              <a:t>5. Aβ Candidate Engineering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87F6D"/>
                </a:solidFill>
                <a:latin typeface="Microsoft YaHei"/>
              </a:defRPr>
            </a:pPr>
            <a:r>
              <a:t>A frozen, auditable 3D6/4HIX case study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4708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481 source memberships → 352 unique hypotheses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60320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67004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77 pass computational gates → 24 diverse candidates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383279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49300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27 entities × 3 AF2 seeds = 81/81 successful predictions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206240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31596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16 pass AF2/PRODIGY gates → 12 final computational candidates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4652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2606D"/>
                </a:solidFill>
                <a:latin typeface="Microsoft YaHei"/>
              </a:defRPr>
            </a:pPr>
            <a:r>
              <a:t>Team 28 | DisorderFlow | iBEC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4652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2606D"/>
                </a:solidFill>
                <a:latin typeface="Microsoft YaHei"/>
              </a:defRPr>
            </a:pPr>
            <a:r>
              <a:t>6/10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7212B"/>
                </a:solidFill>
                <a:latin typeface="Microsoft YaHei"/>
              </a:defRPr>
            </a:pPr>
            <a:r>
              <a:t>6. Multi-Seed Structural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87F6D"/>
                </a:solidFill>
                <a:latin typeface="Microsoft YaHei"/>
              </a:defRPr>
            </a:pPr>
            <a:r>
              <a:t>Small score changes are reported with uncertainty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4708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Native median ipTM: 0.4762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60320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67004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Candidate median ipTM range: 0.4763-0.5034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383279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49300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Candidate seed ranges: 0.0030-0.0087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206240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31596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Interface PAE ≈ 26: candidates remain computational hypotheses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4652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2606D"/>
                </a:solidFill>
                <a:latin typeface="Microsoft YaHei"/>
              </a:defRPr>
            </a:pPr>
            <a:r>
              <a:t>Team 28 | DisorderFlow | iBEC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4652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2606D"/>
                </a:solidFill>
                <a:latin typeface="Microsoft YaHei"/>
              </a:defRPr>
            </a:pPr>
            <a:r>
              <a:t>7/10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7212B"/>
                </a:solidFill>
                <a:latin typeface="Microsoft YaHei"/>
              </a:defRPr>
            </a:pPr>
            <a:r>
              <a:t>7. Evidence Audit and Second Target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87F6D"/>
                </a:solidFill>
                <a:latin typeface="Microsoft YaHei"/>
              </a:defRPr>
            </a:pPr>
            <a:r>
              <a:t>Correcting claims is part of the engineering workflow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4708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1,289 records × 5 conformations; 219 have exact DisProt disorder-region evidence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60320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67004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The unsupported phrase '800+ natural IDPs' has been removed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383279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49300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Tau/5MP3: correct 13-aa H3, five poses, 275 unique hypotheses, 163 pass all gates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206240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31596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Eight diverse Tau candidates; minimum pairwise Hamming distance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4652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2606D"/>
                </a:solidFill>
                <a:latin typeface="Microsoft YaHei"/>
              </a:defRPr>
            </a:pPr>
            <a:r>
              <a:t>Team 28 | DisorderFlow | iBEC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4652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2606D"/>
                </a:solidFill>
                <a:latin typeface="Microsoft YaHei"/>
              </a:defRPr>
            </a:pPr>
            <a:r>
              <a:t>8/10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7212B"/>
                </a:solidFill>
                <a:latin typeface="Microsoft YaHei"/>
              </a:defRPr>
            </a:pPr>
            <a:r>
              <a:t>8. Engineering and Translation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87F6D"/>
                </a:solidFill>
                <a:latin typeface="Microsoft YaHei"/>
              </a:defRPr>
            </a:pPr>
            <a:r>
              <a:t>Computational output is converted into an auditable handoff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4708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Secreted scFv contract: signal-VH-(G4S)3-VL-G4S-His6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60320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67004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12 candidates plus native and counterfactual sequence controls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383279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49300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Blinded assay layouts and measurement import schemas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206240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31596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No false probability: binder-confidence status is abstain_not_trained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4652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2606D"/>
                </a:solidFill>
                <a:latin typeface="Microsoft YaHei"/>
              </a:defRPr>
            </a:pPr>
            <a:r>
              <a:t>Team 28 | DisorderFlow | iBEC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4652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2606D"/>
                </a:solidFill>
                <a:latin typeface="Microsoft YaHei"/>
              </a:defRPr>
            </a:pPr>
            <a:r>
              <a:t>9/10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114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7212B"/>
                </a:solidFill>
                <a:latin typeface="Microsoft YaHei"/>
              </a:defRPr>
            </a:pPr>
            <a:r>
              <a:t>9. iBEC Deliverables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87F6D"/>
                </a:solidFill>
                <a:latin typeface="Microsoft YaHei"/>
              </a:defRPr>
            </a:pPr>
            <a:r>
              <a:t>Primary track: AI-driven Life Science Discovery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4708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Runnable platform and 4HIX demonstration workflow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60320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67004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Frozen ECLS benchmark and 449-artifact release lineage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383279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49300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Aβ 352→24→12 case study with 81 hashed AF2 structures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206240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31596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Completed audits and Tau 275→163→8 second-target extension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029200"/>
            <a:ext cx="10561320" cy="658368"/>
          </a:xfrm>
          <a:prstGeom prst="roundRect">
            <a:avLst/>
          </a:prstGeom>
          <a:solidFill>
            <a:srgbClr val="E9F5F2"/>
          </a:solidFill>
          <a:ln>
            <a:solidFill>
              <a:srgbClr val="BFDC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513892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12B"/>
                </a:solidFill>
                <a:latin typeface="Microsoft YaHei"/>
              </a:defRPr>
            </a:pPr>
            <a:r>
              <a:t>•  Current boundary: no experimental binding, affinity or therapeutic claim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4652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2606D"/>
                </a:solidFill>
                <a:latin typeface="Microsoft YaHei"/>
              </a:defRPr>
            </a:pPr>
            <a:r>
              <a:t>Team 28 | DisorderFlow | iBEC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0" y="644652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2606D"/>
                </a:solidFill>
                <a:latin typeface="Microsoft YaHei"/>
              </a:defRPr>
            </a:pPr>
            <a:r>
              <a:t>10/10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