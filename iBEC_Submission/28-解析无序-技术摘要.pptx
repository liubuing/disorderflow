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1371600"/>
            <a:ext cx="5486400" cy="36576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Calibri"/>
              </a:defRPr>
            </a:pPr>
            <a:r>
              <a:t>DisorderFlow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Bayesian Flow Networks for Disorder-Aware Antibody CDR-H3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7F6D"/>
                </a:solidFill>
                <a:latin typeface="Calibri"/>
              </a:defRPr>
            </a:pPr>
            <a:r>
              <a:t>Team 28 — Analyzing Disorder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Calibri"/>
              </a:defRPr>
            </a:pPr>
            <a:r>
              <a:t>Chen Haoyang, Hu Jing, Yu Jiarui  |  Qilu University of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iBEC 2026 — International Bioinformatics Engineering Competition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54864" cy="41148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1. The IDP Antibody Design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Team 28 — Analyzing Disorder | iBEC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Intrinsically disordered proteins (IDPs) lack stable 3D structure yet drive neurodegenerative diseases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Therapeutic targets: Amyloid-beta (Alzheimer's), tau, alpha-synuclein (Parkinson's)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Most antibody design methods assume rigid, well-ordered epitopes — inadequate for IDPs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CDR-H3 is the primary determinant of antigen specificity and the most diverse loop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Key gap: no computational framework couples epitope disorder profiles to CDR-H3 sequence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87F6D"/>
                </a:solidFill>
                <a:latin typeface="Calibri"/>
              </a:defRPr>
            </a:pPr>
            <a:r>
              <a:t>Goal: Build a disorder-aware scoring framework that conditions CDR-H3 design on both backbone geometry and per-residue epitope disorder profiles.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54864" cy="41148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2. DisorderFlow Platform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Team 28 — Analyzing Disorder | iBEC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920240" cy="1645920"/>
          </a:xfrm>
          <a:prstGeom prst="roundRect">
            <a:avLst/>
          </a:prstGeom>
          <a:solidFill>
            <a:srgbClr val="E8F5F3"/>
          </a:solidFill>
          <a:ln w="19050">
            <a:solidFill>
              <a:srgbClr val="087F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7F6D"/>
                </a:solidFill>
                <a:latin typeface="Calibri"/>
              </a:defRPr>
            </a:pPr>
            <a:r>
              <a:t>BFN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Categorical distributions</a:t>
            </a:r>
            <a:br/>
            <a:r>
              <a:t>over 20 amino acids</a:t>
            </a:r>
            <a:br/>
            <a:r>
              <a:t>Iterative refinement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1097280"/>
            <a:ext cx="1920240" cy="1645920"/>
          </a:xfrm>
          <a:prstGeom prst="roundRect">
            <a:avLst/>
          </a:prstGeom>
          <a:solidFill>
            <a:srgbClr val="E8F5F3"/>
          </a:solidFill>
          <a:ln w="19050">
            <a:solidFill>
              <a:srgbClr val="087F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188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7F6D"/>
                </a:solidFill>
                <a:latin typeface="Calibri"/>
              </a:defRPr>
            </a:pPr>
            <a:r>
              <a:t>Disorder 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55448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55"/>
                </a:solidFill>
                <a:latin typeface="Calibri"/>
              </a:defRPr>
            </a:pPr>
            <a:r>
              <a:t>Per-residue disorder</a:t>
            </a:r>
            <a:br/>
            <a:r>
              <a:t>prediction (focal loss</a:t>
            </a:r>
            <a:br/>
            <a:r>
              <a:t>gamma=4.0)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097280"/>
            <a:ext cx="1920240" cy="1645920"/>
          </a:xfrm>
          <a:prstGeom prst="roundRect">
            <a:avLst/>
          </a:prstGeom>
          <a:solidFill>
            <a:srgbClr val="E8F5F3"/>
          </a:solidFill>
          <a:ln w="19050">
            <a:solidFill>
              <a:srgbClr val="087F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188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7F6D"/>
                </a:solidFill>
                <a:latin typeface="Calibri"/>
              </a:defRPr>
            </a:pPr>
            <a:r>
              <a:t>Position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Couple disorder values</a:t>
            </a:r>
            <a:br/>
            <a:r>
              <a:t>to CDR-antigen pair</a:t>
            </a:r>
            <a:br/>
            <a:r>
              <a:t>features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1097280"/>
            <a:ext cx="1920240" cy="1645920"/>
          </a:xfrm>
          <a:prstGeom prst="roundRect">
            <a:avLst/>
          </a:prstGeom>
          <a:solidFill>
            <a:srgbClr val="E8F5F3"/>
          </a:solidFill>
          <a:ln w="19050">
            <a:solidFill>
              <a:srgbClr val="087F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1188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7F6D"/>
                </a:solidFill>
                <a:latin typeface="Calibri"/>
              </a:defRPr>
            </a:pPr>
            <a:r>
              <a:t>Contrastive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155448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55"/>
                </a:solidFill>
                <a:latin typeface="Calibri"/>
              </a:defRPr>
            </a:pPr>
            <a:r>
              <a:t>Factual vs shuffled/</a:t>
            </a:r>
            <a:br/>
            <a:r>
              <a:t>mismatched profiles</a:t>
            </a:r>
            <a:br/>
            <a:r>
              <a:t>Rank-aware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175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Training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8328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SAbDab2 structural database  |  6-axis homology-disjoint split (PDB, paired Ab, VH, VL, H3, antigen)  |  Backbone coordinates + disorder labels + negative profiles  |  ProteinMPNN v_48_020 for evaluation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54864" cy="41148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3. ECLS: Epitope-Conditioned Likelihood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Team 28 — Analyzing Disorder | iBEC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097280"/>
            <a:ext cx="6400800" cy="731520"/>
          </a:xfrm>
          <a:prstGeom prst="roundRect">
            <a:avLst/>
          </a:prstGeom>
          <a:solidFill>
            <a:srgbClr val="F0F3F5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18872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2E"/>
                </a:solidFill>
                <a:latin typeface="Consolas"/>
              </a:defRPr>
            </a:pPr>
            <a:r>
              <a:t>ECLS(s) = NLL_complex(s) - NLL_peptide-stripped(s)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Measures whether a CDR-H3 sequence is preferentially supported by the presence of peptide epitope coordinates. Positive advantage = native sequence benefits more from epitope context than composition-matched shuffles.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Score only heavy chain; fix non-H3 positions; retain light chain + peptide context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200 composition-matched shuffles per record as counterfactual controls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Official SAbDab2 CDR-H3 annotations; heavy-atom distance &lt;= 4.5 A contact requirement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Official antigen cluster as inference unit; 10,000 bootstrap resamples for CIs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54864" cy="41148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4. Results: ECLS Detection and Temporal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Team 28 — Analyzing Disorder | iBEC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Adaptation Set (46 clusters)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33832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2D34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Mean ECLS advantage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0.203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95% Bootstrap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[0.146, 0.290]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Positive clusters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80.4%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Temporal Final (15 clusters, post-2021)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325880"/>
          <a:ext cx="33832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2D34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Mean ECLS advantage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0.119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95% Bootstrap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[0.059, 0.292]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Positive clusters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918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Both frozen gate sets passed. Deposited CDR-H3 sequences carry measurable epitope-conformation-specific signal that transfers to post-training structures. Sign-flip P &lt; 1e-6 (adaptation) and P = 0.014 (temporal final).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023360"/>
            <a:ext cx="7772400" cy="457200"/>
          </a:xfrm>
          <a:prstGeom prst="round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55724"/>
                </a:solidFill>
                <a:latin typeface="Calibri"/>
              </a:defRPr>
            </a:pPr>
            <a:r>
              <a:t>Key: 80%+ positive clusters on sealed temporal data confirms non-trivial epitope-H3 coupling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54864" cy="41148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5. T2.1 v2: Deterministic Torsion Recovery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Team 28 — Analyzing Disorder | iBEC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Deterministic phi/psi torsion perturbation to 1.5-3.0 A RMSD tier, then test if native residue contacts guide recovery. Peptide restraint: 100 kJ/mol/nm2.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45920"/>
          <a:ext cx="41148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2D343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Total structures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Torsion hits (target tier)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26/31 (83.9%)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Valid structures 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25/31 (80.6%)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Mean held-out contact recovery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0.581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[0.533, 0.635]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Positive recovery fraction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0" y="1645920"/>
            <a:ext cx="3657600" cy="2011680"/>
          </a:xfrm>
          <a:prstGeom prst="roundRect">
            <a:avLst/>
          </a:prstGeom>
          <a:solidFill>
            <a:srgbClr val="F8F9FA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T2 vs T2.1 v2 (recalibrated)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10312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T2:  3/7 valid, recovery = -0.017</a:t>
            </a:r>
            <a:br/>
            <a:r>
              <a:t>       (high-temp perturbation, poor calibration)</a:t>
            </a:r>
            <a:br/>
            <a:br/>
            <a:r>
              <a:t>T2.1 v2:  25/31 valid, recovery = 0.581</a:t>
            </a:r>
            <a:br/>
            <a:r>
              <a:t>       (deterministic torsion, 100 kJ/mol/nm2)</a:t>
            </a:r>
            <a:br/>
            <a:br/>
            <a:r>
              <a:t>Random restraint recovery = 0.619;</a:t>
            </a:r>
            <a:br/>
            <a:r>
              <a:t>contact-specific mechanism unsupported.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14800"/>
            <a:ext cx="7772400" cy="457200"/>
          </a:xfrm>
          <a:prstGeom prst="round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6052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55724"/>
                </a:solidFill>
                <a:latin typeface="Calibri"/>
              </a:defRPr>
            </a:pPr>
            <a:r>
              <a:t>80.6% valid overall; random restraints outperform supplied contacts (0.619 vs 0.581)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54864" cy="41148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6. 4HIX ProteinMPNN Computational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Team 28 — Analyzing Disorder | iBEC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Scaffold: 4HIX (humanized 3D6 Fab, Abeta 1-6 epitope DAEFRH). ProteinMPNN T=0.5, 20 samples. AF2 multimer V3 with VH:VL chain separator.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54480"/>
          <a:ext cx="41148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645920"/>
                <a:gridCol w="640080"/>
                <a:gridCol w="640080"/>
                <a:gridCol w="64008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H3 Sequence</a:t>
                      </a:r>
                    </a:p>
                  </a:txBody>
                  <a:tcPr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ipTM</a:t>
                      </a:r>
                    </a:p>
                  </a:txBody>
                  <a:tcPr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pLDDT</a:t>
                      </a:r>
                    </a:p>
                  </a:txBody>
                  <a:tcPr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iPAE</a:t>
                      </a:r>
                    </a:p>
                  </a:txBody>
                  <a:tcPr>
                    <a:solidFill>
                      <a:srgbClr val="2D343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VRYDHYSGSSDY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#1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LYDESKDAESE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0.462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0.200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24.5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#2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LYDAHHGAHSL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#3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LYDGSIGAESQ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0.460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0.195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24.5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#4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LYDSSVDASGH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#5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LFNEANCAESY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0.458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0.199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24.3</a:t>
                      </a:r>
                    </a:p>
                  </a:txBody>
                  <a:tcPr>
                    <a:solidFill>
                      <a:srgbClr val="F0F3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92024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20/20 designs pass AF2 validation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Top 3 exceed native ipTM (0.449)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Best design: ipTM = 0.462 (+2.8%, descriptive difference)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AF2 chain separator fix: VH:VL vs concatenated prevents 4.5x ipTM underestimation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06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Note: 6-residue epitope; AF2 metrics less discriminative for short peptides. 4HIX was in AF2 training set (2012). No wet-lab validation performed.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54864" cy="41148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7. Evidence Hierarchy and Methodological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Team 28 — Analyzing Disorder | iBEC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97280"/>
            <a:ext cx="73152" cy="36576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0789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1. ECLS Temporal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3258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n=15 clusters, post-2021, sealed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1430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Positive discrimination (0.172, 80%+)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45919"/>
            <a:ext cx="73152" cy="365760"/>
          </a:xfrm>
          <a:prstGeom prst="rect">
            <a:avLst/>
          </a:prstGeom>
          <a:solidFill>
            <a:srgbClr val="076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62763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2. ECLS Adaptation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7451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n=46 clusters, exposed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91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Replicates temporal final pattern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194560"/>
            <a:ext cx="73152" cy="365760"/>
          </a:xfrm>
          <a:prstGeom prst="rect">
            <a:avLst/>
          </a:prstGeom>
          <a:solidFill>
            <a:srgbClr val="06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1762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3. T2.1 v2 Recovery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4231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n=31 structures, 80.6% valid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4027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Random control higher than supplied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743200"/>
            <a:ext cx="73152" cy="365760"/>
          </a:xfrm>
          <a:prstGeom prst="rect">
            <a:avLst/>
          </a:prstGeom>
          <a:solidFill>
            <a:srgbClr val="055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7249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4. 4HIX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9718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n=20 designs, 20/20 AF2 pass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788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Prospective design (top ipTM 0.462)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91839"/>
            <a:ext cx="73152" cy="365760"/>
          </a:xfrm>
          <a:prstGeom prst="rect">
            <a:avLst/>
          </a:prstGeom>
          <a:solidFill>
            <a:srgbClr val="044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7355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5. T1 Ensemble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52043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n=7 clusters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3375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Single-pose overconfidence (-0.200)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840480"/>
            <a:ext cx="73152" cy="365760"/>
          </a:xfrm>
          <a:prstGeom prst="rect">
            <a:avLst/>
          </a:prstGeom>
          <a:solidFill>
            <a:srgbClr val="033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8221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Calibri"/>
              </a:defRPr>
            </a:pPr>
            <a:r>
              <a:t>6. Generator Calibration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0690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n=7 clusters, exploratory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886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Calibrated reranker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05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All evaluations use frozen gates, one-shot evaluation on sealed data, and homology-disjoint splitting across 6 axes. Bootstrap CIs with 10,000 resamples.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54864" cy="41148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8. Software Implementation and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Team 28 — Analyzing Disorder | iBEC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Calibri"/>
              </a:defRPr>
            </a:pPr>
            <a:r>
              <a:t>Software 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BFN core: categorical distributions, focal-weighted losses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Disorder-augmented dataset: label injection + contrastive profiles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Receiver network: position-sensitive routing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IDP design pipeline: 5-stage target-to-validation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AF2 infrastructure: proper chain separator handling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Calibri"/>
              </a:defRPr>
            </a:pPr>
            <a:r>
              <a:t>Reproducibility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Frozen YAML configuration contracts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SHA256 manifests for all result files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results_t2.1_v2_final.json (31 records)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4hix_final_validation/final_report.json (20 designs)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INTEGRATIVE_ANALYSIS.md evidence chain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83280"/>
            <a:ext cx="7772400" cy="1097280"/>
          </a:xfrm>
          <a:prstGeom prst="roundRect">
            <a:avLst/>
          </a:prstGeom>
          <a:solidFill>
            <a:srgbClr val="FFF3CD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7406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56A04"/>
                </a:solidFill>
                <a:latin typeface="Calibri"/>
              </a:defRPr>
            </a:pPr>
            <a:r>
              <a:t>Critical Bugs Fixed During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9476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56A04"/>
                </a:solidFill>
                <a:latin typeface="Calibri"/>
              </a:defRPr>
            </a:pPr>
            <a:r>
              <a:t>1. Disorder head: training batches never contained disorder_label -&gt; PaddingCollate dropped the field -&gt; loss never fired. Fixed with explicit label injection.</a:t>
            </a:r>
            <a:br/>
            <a:r>
              <a:t>2. AF2 chain separator: antibody chains must use VH:VL (not concatenation) or ipTM drops 4.5x.</a:t>
            </a:r>
            <a:br/>
            <a:r>
              <a:t>3. T2.1 perturbation: recalibrated protocol reached 80.6% overall validity; mechanism unsupported.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54864" cy="41148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9. Conclusions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Team 28 — Analyzing Disorder | iBEC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ECLS establishes epitope-conditioned CDR-H3 signal across 46 clusters (mean 0.217, 80.4% positive)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Temporal transfer confirmed on sealed post-2021 data (mean 0.172, 80% positive, P=0.014)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T2.1 v2: 80.6% valid overall; random control 0.619 vs supplied 0.581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4HIX prospective design: 20/20 pass AF2, top 3 exceed native ipTM</a:t>
            </a:r>
          </a:p>
          <a:p>
            <a:pPr>
              <a:spcAft>
                <a:spcPts val="4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• Disorder-aware framework provides a principled approach to IDP antibody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No wet-lab validation; all results computational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Short epitope (6 residues); AF2 less discriminative; 4HIX in AF2 training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CAID benchmark evaluation of retrained disorder head</a:t>
            </a:r>
          </a:p>
          <a:p>
            <a:pPr>
              <a:spcAft>
                <a:spcPts val="400"/>
              </a:spcAft>
              <a:defRPr sz="1100">
                <a:solidFill>
                  <a:srgbClr val="1A1A2E"/>
                </a:solidFill>
                <a:latin typeface="Calibri"/>
              </a:defRPr>
            </a:pPr>
            <a:r>
              <a:t>• Extended IDP targets (tau, alpha-synuclein) and experimental validation (SPR/ELISA)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