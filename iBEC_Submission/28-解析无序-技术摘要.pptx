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828800" y="1371600"/>
            <a:ext cx="5486400" cy="36576"/>
          </a:xfrm>
          <a:prstGeom prst="rect">
            <a:avLst/>
          </a:prstGeom>
          <a:solidFill>
            <a:srgbClr val="087F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1A1A2E"/>
                </a:solidFill>
                <a:latin typeface="Calibri"/>
              </a:defRPr>
            </a:pPr>
            <a:r>
              <a:t>DisorderFlow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555555"/>
                </a:solidFill>
                <a:latin typeface="Calibri"/>
              </a:defRPr>
            </a:pPr>
            <a:r>
              <a:t>Bayesian Flow Networks for Disorder-Aware Antibody CDR-H3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1089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87F6D"/>
                </a:solidFill>
                <a:latin typeface="Calibri"/>
              </a:defRPr>
            </a:pPr>
            <a:r>
              <a:t>Team 28 — Analyzing Disorder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4747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555555"/>
                </a:solidFill>
                <a:latin typeface="Calibri"/>
              </a:defRPr>
            </a:pPr>
            <a:r>
              <a:t>Chen Haoyang, Hu Jing, Yu Jiarui  |  Qilu University of Technology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8404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99999"/>
                </a:solidFill>
                <a:latin typeface="Calibri"/>
              </a:defRPr>
            </a:pPr>
            <a:r>
              <a:t>iBEC 2026 — International Bioinformatics Engineering Competition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54864" cy="411480"/>
          </a:xfrm>
          <a:prstGeom prst="rect">
            <a:avLst/>
          </a:prstGeom>
          <a:solidFill>
            <a:srgbClr val="087F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1A2E"/>
                </a:solidFill>
                <a:latin typeface="Calibri"/>
              </a:defRPr>
            </a:pPr>
            <a:r>
              <a:t>1. The IDP Antibody Design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99999"/>
                </a:solidFill>
                <a:latin typeface="Calibri"/>
              </a:defRPr>
            </a:pPr>
            <a:r>
              <a:t>2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99"/>
                </a:solidFill>
                <a:latin typeface="Calibri"/>
              </a:defRPr>
            </a:pPr>
            <a:r>
              <a:t>Team 28 — Analyzing Disorder | iBEC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05840"/>
            <a:ext cx="7772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• Intrinsically disordered proteins (IDPs) lack stable 3D structure yet drive neurodegenerative diseases</a:t>
            </a:r>
          </a:p>
          <a:p>
            <a:pPr>
              <a:spcAft>
                <a:spcPts val="4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• Therapeutic targets: Amyloid-beta (Alzheimer's), tau, alpha-synuclein (Parkinson's)</a:t>
            </a:r>
          </a:p>
          <a:p>
            <a:pPr>
              <a:spcAft>
                <a:spcPts val="4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• Most antibody design methods assume rigid, well-ordered epitopes — inadequate for IDPs</a:t>
            </a:r>
          </a:p>
          <a:p>
            <a:pPr>
              <a:spcAft>
                <a:spcPts val="4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• CDR-H3 is the primary determinant of antigen specificity and the most diverse loop</a:t>
            </a:r>
          </a:p>
          <a:p>
            <a:pPr>
              <a:spcAft>
                <a:spcPts val="4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• Key gap: no computational framework couples epitope disorder profiles to CDR-H3 sequence selection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93192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87F6D"/>
                </a:solidFill>
                <a:latin typeface="Calibri"/>
              </a:defRPr>
            </a:pPr>
            <a:r>
              <a:t>Goal: Build a disorder-aware scoring framework that conditions CDR-H3 design on both backbone geometry and per-residue epitope disorder profiles.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54864" cy="411480"/>
          </a:xfrm>
          <a:prstGeom prst="rect">
            <a:avLst/>
          </a:prstGeom>
          <a:solidFill>
            <a:srgbClr val="087F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1A2E"/>
                </a:solidFill>
                <a:latin typeface="Calibri"/>
              </a:defRPr>
            </a:pPr>
            <a:r>
              <a:t>2. DisorderFlow Platform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99999"/>
                </a:solidFill>
                <a:latin typeface="Calibri"/>
              </a:defRPr>
            </a:pPr>
            <a:r>
              <a:t>3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99"/>
                </a:solidFill>
                <a:latin typeface="Calibri"/>
              </a:defRPr>
            </a:pPr>
            <a:r>
              <a:t>Team 28 — Analyzing Disorder | iBEC 2026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920240" cy="1645920"/>
          </a:xfrm>
          <a:prstGeom prst="roundRect">
            <a:avLst/>
          </a:prstGeom>
          <a:solidFill>
            <a:srgbClr val="E8F5F3"/>
          </a:solidFill>
          <a:ln w="19050">
            <a:solidFill>
              <a:srgbClr val="087F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18872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87F6D"/>
                </a:solidFill>
                <a:latin typeface="Calibri"/>
              </a:defRPr>
            </a:pPr>
            <a:r>
              <a:t>BFN Core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554480"/>
            <a:ext cx="1737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55555"/>
                </a:solidFill>
                <a:latin typeface="Calibri"/>
              </a:defRPr>
            </a:pPr>
            <a:r>
              <a:t>Categorical distributions</a:t>
            </a:r>
            <a:br/>
            <a:r>
              <a:t>over 20 amino acids</a:t>
            </a:r>
            <a:br/>
            <a:r>
              <a:t>Iterative refinement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06040" y="1097280"/>
            <a:ext cx="1920240" cy="1645920"/>
          </a:xfrm>
          <a:prstGeom prst="roundRect">
            <a:avLst/>
          </a:prstGeom>
          <a:solidFill>
            <a:srgbClr val="E8F5F3"/>
          </a:solidFill>
          <a:ln w="19050">
            <a:solidFill>
              <a:srgbClr val="087F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97480" y="118872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87F6D"/>
                </a:solidFill>
                <a:latin typeface="Calibri"/>
              </a:defRPr>
            </a:pPr>
            <a:r>
              <a:t>Disorder Head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97480" y="1554480"/>
            <a:ext cx="1737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55555"/>
                </a:solidFill>
                <a:latin typeface="Calibri"/>
              </a:defRPr>
            </a:pPr>
            <a:r>
              <a:t>Per-residue disorder</a:t>
            </a:r>
            <a:br/>
            <a:r>
              <a:t>prediction (focal loss</a:t>
            </a:r>
            <a:br/>
            <a:r>
              <a:t>gamma=4.0)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54880" y="1097280"/>
            <a:ext cx="1920240" cy="1645920"/>
          </a:xfrm>
          <a:prstGeom prst="roundRect">
            <a:avLst/>
          </a:prstGeom>
          <a:solidFill>
            <a:srgbClr val="E8F5F3"/>
          </a:solidFill>
          <a:ln w="19050">
            <a:solidFill>
              <a:srgbClr val="087F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46320" y="118872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87F6D"/>
                </a:solidFill>
                <a:latin typeface="Calibri"/>
              </a:defRPr>
            </a:pPr>
            <a:r>
              <a:t>Position Routing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0" y="1554480"/>
            <a:ext cx="1737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55555"/>
                </a:solidFill>
                <a:latin typeface="Calibri"/>
              </a:defRPr>
            </a:pPr>
            <a:r>
              <a:t>Couple disorder values</a:t>
            </a:r>
            <a:br/>
            <a:r>
              <a:t>to CDR-antigen pair</a:t>
            </a:r>
            <a:br/>
            <a:r>
              <a:t>features directly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903720" y="1097280"/>
            <a:ext cx="1920240" cy="1645920"/>
          </a:xfrm>
          <a:prstGeom prst="roundRect">
            <a:avLst/>
          </a:prstGeom>
          <a:solidFill>
            <a:srgbClr val="E8F5F3"/>
          </a:solidFill>
          <a:ln w="19050">
            <a:solidFill>
              <a:srgbClr val="087F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95160" y="118872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87F6D"/>
                </a:solidFill>
                <a:latin typeface="Calibri"/>
              </a:defRPr>
            </a:pPr>
            <a:r>
              <a:t>Contrastive Loss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95160" y="1554480"/>
            <a:ext cx="1737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55555"/>
                </a:solidFill>
                <a:latin typeface="Calibri"/>
              </a:defRPr>
            </a:pPr>
            <a:r>
              <a:t>Factual vs shuffled/</a:t>
            </a:r>
            <a:br/>
            <a:r>
              <a:t>mismatched profiles</a:t>
            </a:r>
            <a:br/>
            <a:r>
              <a:t>Rank-aware training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01752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2E"/>
                </a:solidFill>
                <a:latin typeface="Calibri"/>
              </a:defRPr>
            </a:pPr>
            <a:r>
              <a:t>Training Pipeline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38328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55555"/>
                </a:solidFill>
                <a:latin typeface="Calibri"/>
              </a:defRPr>
            </a:pPr>
            <a:r>
              <a:t>SAbDab2 structural database  |  6-axis homology-disjoint split (PDB, paired Ab, VH, VL, H3, antigen)  |  Backbone coordinates + disorder labels + negative profiles  |  ProteinMPNN v_48_020 for evaluation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54864" cy="411480"/>
          </a:xfrm>
          <a:prstGeom prst="rect">
            <a:avLst/>
          </a:prstGeom>
          <a:solidFill>
            <a:srgbClr val="087F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1A2E"/>
                </a:solidFill>
                <a:latin typeface="Calibri"/>
              </a:defRPr>
            </a:pPr>
            <a:r>
              <a:t>3. ECLS: Epitope-Conditioned Likelihood Shift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99999"/>
                </a:solidFill>
                <a:latin typeface="Calibri"/>
              </a:defRPr>
            </a:pPr>
            <a:r>
              <a:t>4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99"/>
                </a:solidFill>
                <a:latin typeface="Calibri"/>
              </a:defRPr>
            </a:pPr>
            <a:r>
              <a:t>Team 28 — Analyzing Disorder | iBEC 2026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1097280"/>
            <a:ext cx="6400800" cy="731520"/>
          </a:xfrm>
          <a:prstGeom prst="roundRect">
            <a:avLst/>
          </a:prstGeom>
          <a:solidFill>
            <a:srgbClr val="F0F3F5"/>
          </a:solidFill>
          <a:ln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54480" y="1188720"/>
            <a:ext cx="6035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A1A2E"/>
                </a:solidFill>
                <a:latin typeface="Consolas"/>
              </a:defRPr>
            </a:pPr>
            <a:r>
              <a:t>ECLS(s) = NLL_complex(s) - NLL_peptide-stripped(s)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1168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55555"/>
                </a:solidFill>
                <a:latin typeface="Calibri"/>
              </a:defRPr>
            </a:pPr>
            <a:r>
              <a:t>Measures whether a CDR-H3 sequence is preferentially supported by the presence of peptide epitope coordinates. Positive advantage = native sequence benefits more from epitope context than composition-matched shuffles.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74320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2E"/>
                </a:solidFill>
                <a:latin typeface="Calibri"/>
              </a:defRPr>
            </a:pPr>
            <a:r>
              <a:t>Methodology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108960"/>
            <a:ext cx="7772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t>• Score only heavy chain; fix non-H3 positions; retain light chain + peptide context</a:t>
            </a:r>
          </a:p>
          <a:p>
            <a:pPr>
              <a:spcAft>
                <a:spcPts val="40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t>• 200 composition-matched shuffles per record as counterfactual controls</a:t>
            </a:r>
          </a:p>
          <a:p>
            <a:pPr>
              <a:spcAft>
                <a:spcPts val="40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t>• Official SAbDab2 CDR-H3 annotations; heavy-atom distance &lt;= 4.5 A contact requirement</a:t>
            </a:r>
          </a:p>
          <a:p>
            <a:pPr>
              <a:spcAft>
                <a:spcPts val="40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t>• Official antigen cluster as inference unit; 10,000 bootstrap resamples for CIs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54864" cy="411480"/>
          </a:xfrm>
          <a:prstGeom prst="rect">
            <a:avLst/>
          </a:prstGeom>
          <a:solidFill>
            <a:srgbClr val="087F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1A2E"/>
                </a:solidFill>
                <a:latin typeface="Calibri"/>
              </a:defRPr>
            </a:pPr>
            <a:r>
              <a:t>4. Results: ECLS Detection and Temporal Transfer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99999"/>
                </a:solidFill>
                <a:latin typeface="Calibri"/>
              </a:defRPr>
            </a:pPr>
            <a:r>
              <a:t>5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99"/>
                </a:solidFill>
                <a:latin typeface="Calibri"/>
              </a:defRPr>
            </a:pPr>
            <a:r>
              <a:t>Team 28 — Analyzing Disorder | iBEC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058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2E"/>
                </a:solidFill>
                <a:latin typeface="Calibri"/>
              </a:defRPr>
            </a:pPr>
            <a:r>
              <a:t>Adaptation Set (46 clusters)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338328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371600"/>
              </a:tblGrid>
              <a:tr h="32004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2D34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Value</a:t>
                      </a:r>
                    </a:p>
                  </a:txBody>
                  <a:tcPr>
                    <a:solidFill>
                      <a:srgbClr val="2D3436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Mean ECLS advantage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0.217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Median</a:t>
                      </a:r>
                    </a:p>
                  </a:txBody>
                  <a:tcPr>
                    <a:solidFill>
                      <a:srgbClr val="F0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0.203</a:t>
                      </a:r>
                    </a:p>
                  </a:txBody>
                  <a:tcPr>
                    <a:solidFill>
                      <a:srgbClr val="F0F3F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95% Bootstrap CI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[0.146, 0.290]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Positive clusters</a:t>
                      </a:r>
                    </a:p>
                  </a:txBody>
                  <a:tcPr>
                    <a:solidFill>
                      <a:srgbClr val="F0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80.4%</a:t>
                      </a:r>
                    </a:p>
                  </a:txBody>
                  <a:tcPr>
                    <a:solidFill>
                      <a:srgbClr val="F0F3F5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0" y="100584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2E"/>
                </a:solidFill>
                <a:latin typeface="Calibri"/>
              </a:defRPr>
            </a:pPr>
            <a:r>
              <a:t>Temporal Final (15 clusters, post-2021)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0" y="1325880"/>
          <a:ext cx="338328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371600"/>
              </a:tblGrid>
              <a:tr h="32004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2D34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Value</a:t>
                      </a:r>
                    </a:p>
                  </a:txBody>
                  <a:tcPr>
                    <a:solidFill>
                      <a:srgbClr val="2D3436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Mean ECLS advantage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0.172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Median</a:t>
                      </a:r>
                    </a:p>
                  </a:txBody>
                  <a:tcPr>
                    <a:solidFill>
                      <a:srgbClr val="F0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0.119</a:t>
                      </a:r>
                    </a:p>
                  </a:txBody>
                  <a:tcPr>
                    <a:solidFill>
                      <a:srgbClr val="F0F3F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95% Bootstrap CI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[0.059, 0.292]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Positive clusters</a:t>
                      </a:r>
                    </a:p>
                  </a:txBody>
                  <a:tcPr>
                    <a:solidFill>
                      <a:srgbClr val="F0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80.0%</a:t>
                      </a:r>
                    </a:p>
                  </a:txBody>
                  <a:tcPr>
                    <a:solidFill>
                      <a:srgbClr val="F0F3F5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40080" y="329184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55555"/>
                </a:solidFill>
                <a:latin typeface="Calibri"/>
              </a:defRPr>
            </a:pPr>
            <a:r>
              <a:t>Both frozen gate sets passed. Deposited CDR-H3 sequences carry measurable epitope-conformation-specific signal that transfers to post-training structures. Sign-flip P &lt; 1e-6 (adaptation) and P = 0.014 (temporal final).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023360"/>
            <a:ext cx="7772400" cy="457200"/>
          </a:xfrm>
          <a:prstGeom prst="roundRect">
            <a:avLst/>
          </a:prstGeom>
          <a:solidFill>
            <a:srgbClr val="D4E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4069080"/>
            <a:ext cx="7406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55724"/>
                </a:solidFill>
                <a:latin typeface="Calibri"/>
              </a:defRPr>
            </a:pPr>
            <a:r>
              <a:t>Key: 80%+ positive clusters on sealed temporal data confirms non-trivial epitope-H3 coupling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54864" cy="411480"/>
          </a:xfrm>
          <a:prstGeom prst="rect">
            <a:avLst/>
          </a:prstGeom>
          <a:solidFill>
            <a:srgbClr val="087F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1A2E"/>
                </a:solidFill>
                <a:latin typeface="Calibri"/>
              </a:defRPr>
            </a:pPr>
            <a:r>
              <a:t>5. T2.1 v2: Deterministic Torsion Recovery Benchmark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99999"/>
                </a:solidFill>
                <a:latin typeface="Calibri"/>
              </a:defRPr>
            </a:pPr>
            <a:r>
              <a:t>6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99"/>
                </a:solidFill>
                <a:latin typeface="Calibri"/>
              </a:defRPr>
            </a:pPr>
            <a:r>
              <a:t>Team 28 — Analyzing Disorder | iBEC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0584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55555"/>
                </a:solidFill>
                <a:latin typeface="Calibri"/>
              </a:defRPr>
            </a:pPr>
            <a:r>
              <a:t>Deterministic phi/psi torsion perturbation to 1.5-3.0 A RMSD tier, then test if native residue contacts guide recovery. Peptide restraint: 100 kJ/mol/nm2.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645920"/>
          <a:ext cx="4114800" cy="22402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828800"/>
              </a:tblGrid>
              <a:tr h="320039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2D34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Value</a:t>
                      </a:r>
                    </a:p>
                  </a:txBody>
                  <a:tcPr>
                    <a:solidFill>
                      <a:srgbClr val="2D3436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Total structures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Torsion hits (target tier)</a:t>
                      </a:r>
                    </a:p>
                  </a:txBody>
                  <a:tcPr>
                    <a:solidFill>
                      <a:srgbClr val="F0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26/31 (83.9%)</a:t>
                      </a:r>
                    </a:p>
                  </a:txBody>
                  <a:tcPr>
                    <a:solidFill>
                      <a:srgbClr val="F0F3F5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Valid structures after recovery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25/26 (96.2%)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Mean held-out contact recovery</a:t>
                      </a:r>
                    </a:p>
                  </a:txBody>
                  <a:tcPr>
                    <a:solidFill>
                      <a:srgbClr val="F0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0.581</a:t>
                      </a:r>
                    </a:p>
                  </a:txBody>
                  <a:tcPr>
                    <a:solidFill>
                      <a:srgbClr val="F0F3F5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95% CI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[0.533, 0.635]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5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Positive recovery fraction</a:t>
                      </a:r>
                    </a:p>
                  </a:txBody>
                  <a:tcPr>
                    <a:solidFill>
                      <a:srgbClr val="F0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100%</a:t>
                      </a:r>
                    </a:p>
                  </a:txBody>
                  <a:tcPr>
                    <a:solidFill>
                      <a:srgbClr val="F0F3F5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029200" y="1645920"/>
            <a:ext cx="3657600" cy="2011680"/>
          </a:xfrm>
          <a:prstGeom prst="roundRect">
            <a:avLst/>
          </a:prstGeom>
          <a:solidFill>
            <a:srgbClr val="F8F9FA"/>
          </a:solidFill>
          <a:ln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12080" y="173736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1A2E"/>
                </a:solidFill>
                <a:latin typeface="Calibri"/>
              </a:defRPr>
            </a:pPr>
            <a:r>
              <a:t>T2 (failed) vs T2.1 v2 (success)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80" y="2103120"/>
            <a:ext cx="3291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Calibri"/>
              </a:defRPr>
            </a:pPr>
            <a:r>
              <a:t>T2:  3/7 valid, recovery = -0.017</a:t>
            </a:r>
            <a:br/>
            <a:r>
              <a:t>       (high-temp perturbation, poor calibration)</a:t>
            </a:r>
            <a:br/>
            <a:br/>
            <a:r>
              <a:t>T2.1 v2:  25/26 valid, recovery = 0.581</a:t>
            </a:r>
            <a:br/>
            <a:r>
              <a:t>       (deterministic torsion, 100 kJ/mol/nm2)</a:t>
            </a:r>
            <a:br/>
            <a:br/>
            <a:r>
              <a:t>Root cause: parameter calibration, not</a:t>
            </a:r>
            <a:br/>
            <a:r>
              <a:t>fundamental method limitation.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114800"/>
            <a:ext cx="7772400" cy="457200"/>
          </a:xfrm>
          <a:prstGeom prst="roundRect">
            <a:avLst/>
          </a:prstGeom>
          <a:solidFill>
            <a:srgbClr val="D4E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4160520"/>
            <a:ext cx="7406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55724"/>
                </a:solidFill>
                <a:latin typeface="Calibri"/>
              </a:defRPr>
            </a:pPr>
            <a:r>
              <a:t>Gate pass: 96.2% valid structures, 100% positive contact recovery, mean recovery 0.581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54864" cy="411480"/>
          </a:xfrm>
          <a:prstGeom prst="rect">
            <a:avLst/>
          </a:prstGeom>
          <a:solidFill>
            <a:srgbClr val="087F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1A2E"/>
                </a:solidFill>
                <a:latin typeface="Calibri"/>
              </a:defRPr>
            </a:pPr>
            <a:r>
              <a:t>6. 4HIX IDP Antibody Design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99999"/>
                </a:solidFill>
                <a:latin typeface="Calibri"/>
              </a:defRPr>
            </a:pPr>
            <a:r>
              <a:t>7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99"/>
                </a:solidFill>
                <a:latin typeface="Calibri"/>
              </a:defRPr>
            </a:pPr>
            <a:r>
              <a:t>Team 28 — Analyzing Disorder | iBEC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0584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55555"/>
                </a:solidFill>
                <a:latin typeface="Calibri"/>
              </a:defRPr>
            </a:pPr>
            <a:r>
              <a:t>Scaffold: 4HIX (humanized 3D6 Fab, Abeta 1-6 epitope DAEFRH). ProteinMPNN T=0.5, 20 samples. AF2 multimer V3 with VH:VL chain separator.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554480"/>
          <a:ext cx="4114800" cy="22402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/>
                <a:gridCol w="1645920"/>
                <a:gridCol w="640080"/>
                <a:gridCol w="640080"/>
                <a:gridCol w="640080"/>
              </a:tblGrid>
              <a:tr h="320039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Rank</a:t>
                      </a:r>
                    </a:p>
                  </a:txBody>
                  <a:tcPr>
                    <a:solidFill>
                      <a:srgbClr val="2D34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H3 Sequence</a:t>
                      </a:r>
                    </a:p>
                  </a:txBody>
                  <a:tcPr>
                    <a:solidFill>
                      <a:srgbClr val="2D34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ipTM</a:t>
                      </a:r>
                    </a:p>
                  </a:txBody>
                  <a:tcPr>
                    <a:solidFill>
                      <a:srgbClr val="2D34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pLDDT</a:t>
                      </a:r>
                    </a:p>
                  </a:txBody>
                  <a:tcPr>
                    <a:solidFill>
                      <a:srgbClr val="2D34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iPAE</a:t>
                      </a:r>
                    </a:p>
                  </a:txBody>
                  <a:tcPr>
                    <a:solidFill>
                      <a:srgbClr val="2D3436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Native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VRYDHYSGSSDY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0.449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0.194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24.7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#1</a:t>
                      </a:r>
                    </a:p>
                  </a:txBody>
                  <a:tcPr>
                    <a:solidFill>
                      <a:srgbClr val="D4EDD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LYDESKDAESE</a:t>
                      </a:r>
                    </a:p>
                  </a:txBody>
                  <a:tcPr>
                    <a:solidFill>
                      <a:srgbClr val="D4EDD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0.462</a:t>
                      </a:r>
                    </a:p>
                  </a:txBody>
                  <a:tcPr>
                    <a:solidFill>
                      <a:srgbClr val="D4EDD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0.200</a:t>
                      </a:r>
                    </a:p>
                  </a:txBody>
                  <a:tcPr>
                    <a:solidFill>
                      <a:srgbClr val="D4EDD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24.5</a:t>
                      </a:r>
                    </a:p>
                  </a:txBody>
                  <a:tcPr>
                    <a:solidFill>
                      <a:srgbClr val="D4EDDA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#2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LYDAHHGAHSL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0.461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0.192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24.4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#3</a:t>
                      </a:r>
                    </a:p>
                  </a:txBody>
                  <a:tcPr>
                    <a:solidFill>
                      <a:srgbClr val="F0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LYDGSIGAESQ</a:t>
                      </a:r>
                    </a:p>
                  </a:txBody>
                  <a:tcPr>
                    <a:solidFill>
                      <a:srgbClr val="F0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0.460</a:t>
                      </a:r>
                    </a:p>
                  </a:txBody>
                  <a:tcPr>
                    <a:solidFill>
                      <a:srgbClr val="F0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0.195</a:t>
                      </a:r>
                    </a:p>
                  </a:txBody>
                  <a:tcPr>
                    <a:solidFill>
                      <a:srgbClr val="F0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24.5</a:t>
                      </a:r>
                    </a:p>
                  </a:txBody>
                  <a:tcPr>
                    <a:solidFill>
                      <a:srgbClr val="F0F3F5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#4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LYDSSVDASGH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0.459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0.199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24.7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5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#5</a:t>
                      </a:r>
                    </a:p>
                  </a:txBody>
                  <a:tcPr>
                    <a:solidFill>
                      <a:srgbClr val="F0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LFNEANCAESY</a:t>
                      </a:r>
                    </a:p>
                  </a:txBody>
                  <a:tcPr>
                    <a:solidFill>
                      <a:srgbClr val="F0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0.458</a:t>
                      </a:r>
                    </a:p>
                  </a:txBody>
                  <a:tcPr>
                    <a:solidFill>
                      <a:srgbClr val="F0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0.199</a:t>
                      </a:r>
                    </a:p>
                  </a:txBody>
                  <a:tcPr>
                    <a:solidFill>
                      <a:srgbClr val="F0F3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24.3</a:t>
                      </a:r>
                    </a:p>
                  </a:txBody>
                  <a:tcPr>
                    <a:solidFill>
                      <a:srgbClr val="F0F3F5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754880" y="155448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2E"/>
                </a:solidFill>
                <a:latin typeface="Calibri"/>
              </a:defRPr>
            </a:pPr>
            <a:r>
              <a:t>Key Findings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1920240"/>
            <a:ext cx="39319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1A1A2E"/>
                </a:solidFill>
                <a:latin typeface="Calibri"/>
              </a:defRPr>
            </a:pPr>
            <a:r>
              <a:t>• 20/20 designs pass AF2 validation</a:t>
            </a:r>
          </a:p>
          <a:p>
            <a:pPr>
              <a:spcAft>
                <a:spcPts val="400"/>
              </a:spcAft>
              <a:defRPr sz="1100">
                <a:solidFill>
                  <a:srgbClr val="1A1A2E"/>
                </a:solidFill>
                <a:latin typeface="Calibri"/>
              </a:defRPr>
            </a:pPr>
            <a:r>
              <a:t>• Top 3 exceed native ipTM (0.449)</a:t>
            </a:r>
          </a:p>
          <a:p>
            <a:pPr>
              <a:spcAft>
                <a:spcPts val="400"/>
              </a:spcAft>
              <a:defRPr sz="1100">
                <a:solidFill>
                  <a:srgbClr val="1A1A2E"/>
                </a:solidFill>
                <a:latin typeface="Calibri"/>
              </a:defRPr>
            </a:pPr>
            <a:r>
              <a:t>• Best design: ipTM = 0.462 (+2.9%)</a:t>
            </a:r>
          </a:p>
          <a:p>
            <a:pPr>
              <a:spcAft>
                <a:spcPts val="400"/>
              </a:spcAft>
              <a:defRPr sz="1100">
                <a:solidFill>
                  <a:srgbClr val="1A1A2E"/>
                </a:solidFill>
                <a:latin typeface="Calibri"/>
              </a:defRPr>
            </a:pPr>
            <a:r>
              <a:t>• AF2 chain separator fix: VH:VL vs concatenated prevents 4.5x ipTM underestimation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20624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Calibri"/>
              </a:defRPr>
            </a:pPr>
            <a:r>
              <a:t>Note: 6-residue epitope; AF2 metrics less discriminative for short peptides. 4HIX was in AF2 training set (2012). No wet-lab validation performed.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54864" cy="411480"/>
          </a:xfrm>
          <a:prstGeom prst="rect">
            <a:avLst/>
          </a:prstGeom>
          <a:solidFill>
            <a:srgbClr val="087F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1A2E"/>
                </a:solidFill>
                <a:latin typeface="Calibri"/>
              </a:defRPr>
            </a:pPr>
            <a:r>
              <a:t>7. Evidence Hierarchy and Methodological Rigor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99999"/>
                </a:solidFill>
                <a:latin typeface="Calibri"/>
              </a:defRPr>
            </a:pPr>
            <a:r>
              <a:t>8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99"/>
                </a:solidFill>
                <a:latin typeface="Calibri"/>
              </a:defRPr>
            </a:pPr>
            <a:r>
              <a:t>Team 28 — Analyzing Disorder | iBEC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097280"/>
            <a:ext cx="73152" cy="365760"/>
          </a:xfrm>
          <a:prstGeom prst="rect">
            <a:avLst/>
          </a:prstGeom>
          <a:solidFill>
            <a:srgbClr val="087F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07899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2E"/>
                </a:solidFill>
                <a:latin typeface="Calibri"/>
              </a:defRPr>
            </a:pPr>
            <a:r>
              <a:t>1. ECLS Temporal Final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32588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99"/>
                </a:solidFill>
                <a:latin typeface="Calibri"/>
              </a:defRPr>
            </a:pPr>
            <a:r>
              <a:t>n=15 clusters, post-2021, sealed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114300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55555"/>
                </a:solidFill>
                <a:latin typeface="Calibri"/>
              </a:defRPr>
            </a:pPr>
            <a:r>
              <a:t>Positive discrimination (0.172, 80%+)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1645919"/>
            <a:ext cx="73152" cy="365760"/>
          </a:xfrm>
          <a:prstGeom prst="rect">
            <a:avLst/>
          </a:prstGeom>
          <a:solidFill>
            <a:srgbClr val="076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627631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2E"/>
                </a:solidFill>
                <a:latin typeface="Calibri"/>
              </a:defRPr>
            </a:pPr>
            <a:r>
              <a:t>2. ECLS Adaptation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1874519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99"/>
                </a:solidFill>
                <a:latin typeface="Calibri"/>
              </a:defRPr>
            </a:pPr>
            <a:r>
              <a:t>n=46 clusters, exposed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1691639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55555"/>
                </a:solidFill>
                <a:latin typeface="Calibri"/>
              </a:defRPr>
            </a:pPr>
            <a:r>
              <a:t>Replicates temporal final pattern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2194560"/>
            <a:ext cx="73152" cy="365760"/>
          </a:xfrm>
          <a:prstGeom prst="rect">
            <a:avLst/>
          </a:prstGeom>
          <a:solidFill>
            <a:srgbClr val="066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217627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2E"/>
                </a:solidFill>
                <a:latin typeface="Calibri"/>
              </a:defRPr>
            </a:pPr>
            <a:r>
              <a:t>3. T2.1 v2 Recovery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242316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99"/>
                </a:solidFill>
                <a:latin typeface="Calibri"/>
              </a:defRPr>
            </a:pPr>
            <a:r>
              <a:t>n=31 structures, 96.2% valid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2240279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55555"/>
                </a:solidFill>
                <a:latin typeface="Calibri"/>
              </a:defRPr>
            </a:pPr>
            <a:r>
              <a:t>Physical contact recovery (0.581)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2743200"/>
            <a:ext cx="73152" cy="365760"/>
          </a:xfrm>
          <a:prstGeom prst="rect">
            <a:avLst/>
          </a:prstGeom>
          <a:solidFill>
            <a:srgbClr val="0551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272491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2E"/>
                </a:solidFill>
                <a:latin typeface="Calibri"/>
              </a:defRPr>
            </a:pPr>
            <a:r>
              <a:t>4. 4HIX Design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297180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99"/>
                </a:solidFill>
                <a:latin typeface="Calibri"/>
              </a:defRPr>
            </a:pPr>
            <a:r>
              <a:t>n=20 designs, 20/20 AF2 pass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278892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55555"/>
                </a:solidFill>
                <a:latin typeface="Calibri"/>
              </a:defRPr>
            </a:pPr>
            <a:r>
              <a:t>Prospective design (top ipTM 0.462)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3291839"/>
            <a:ext cx="73152" cy="365760"/>
          </a:xfrm>
          <a:prstGeom prst="rect">
            <a:avLst/>
          </a:prstGeom>
          <a:solidFill>
            <a:srgbClr val="044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3273551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2E"/>
                </a:solidFill>
                <a:latin typeface="Calibri"/>
              </a:defRPr>
            </a:pPr>
            <a:r>
              <a:t>5. T1 Ensemble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3520439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99"/>
                </a:solidFill>
                <a:latin typeface="Calibri"/>
              </a:defRPr>
            </a:pPr>
            <a:r>
              <a:t>n=7 clusters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3337559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55555"/>
                </a:solidFill>
                <a:latin typeface="Calibri"/>
              </a:defRPr>
            </a:pPr>
            <a:r>
              <a:t>Single-pose overconfidence (-0.200)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3840480"/>
            <a:ext cx="73152" cy="365760"/>
          </a:xfrm>
          <a:prstGeom prst="rect">
            <a:avLst/>
          </a:prstGeom>
          <a:solidFill>
            <a:srgbClr val="033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382219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2E"/>
                </a:solidFill>
                <a:latin typeface="Calibri"/>
              </a:defRPr>
            </a:pPr>
            <a:r>
              <a:t>6. Generator Calibration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" y="406908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99"/>
                </a:solidFill>
                <a:latin typeface="Calibri"/>
              </a:defRPr>
            </a:pPr>
            <a:r>
              <a:t>n=7 clusters, exploratory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0" y="388620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55555"/>
                </a:solidFill>
                <a:latin typeface="Calibri"/>
              </a:defRPr>
            </a:pPr>
            <a:r>
              <a:t>Calibrated reranker works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448056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Calibri"/>
              </a:defRPr>
            </a:pPr>
            <a:r>
              <a:t>All evaluations use frozen gates, one-shot evaluation on sealed data, and homology-disjoint splitting across 6 axes. Bootstrap CIs with 10,000 resamples.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54864" cy="411480"/>
          </a:xfrm>
          <a:prstGeom prst="rect">
            <a:avLst/>
          </a:prstGeom>
          <a:solidFill>
            <a:srgbClr val="087F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1A2E"/>
                </a:solidFill>
                <a:latin typeface="Calibri"/>
              </a:defRPr>
            </a:pPr>
            <a:r>
              <a:t>8. Software Implementation and Reproducibility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99999"/>
                </a:solidFill>
                <a:latin typeface="Calibri"/>
              </a:defRPr>
            </a:pPr>
            <a:r>
              <a:t>9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99"/>
                </a:solidFill>
                <a:latin typeface="Calibri"/>
              </a:defRPr>
            </a:pPr>
            <a:r>
              <a:t>Team 28 — Analyzing Disorder | iBEC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058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2E"/>
                </a:solidFill>
                <a:latin typeface="Calibri"/>
              </a:defRPr>
            </a:pPr>
            <a:r>
              <a:t>Software Components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3657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1A1A2E"/>
                </a:solidFill>
                <a:latin typeface="Calibri"/>
              </a:defRPr>
            </a:pPr>
            <a:r>
              <a:t>• BFN core: categorical distributions, focal-weighted losses</a:t>
            </a:r>
          </a:p>
          <a:p>
            <a:pPr>
              <a:spcAft>
                <a:spcPts val="400"/>
              </a:spcAft>
              <a:defRPr sz="1100">
                <a:solidFill>
                  <a:srgbClr val="1A1A2E"/>
                </a:solidFill>
                <a:latin typeface="Calibri"/>
              </a:defRPr>
            </a:pPr>
            <a:r>
              <a:t>• Disorder-augmented dataset: label injection + contrastive profiles</a:t>
            </a:r>
          </a:p>
          <a:p>
            <a:pPr>
              <a:spcAft>
                <a:spcPts val="400"/>
              </a:spcAft>
              <a:defRPr sz="1100">
                <a:solidFill>
                  <a:srgbClr val="1A1A2E"/>
                </a:solidFill>
                <a:latin typeface="Calibri"/>
              </a:defRPr>
            </a:pPr>
            <a:r>
              <a:t>• Receiver network: position-sensitive routing</a:t>
            </a:r>
          </a:p>
          <a:p>
            <a:pPr>
              <a:spcAft>
                <a:spcPts val="400"/>
              </a:spcAft>
              <a:defRPr sz="1100">
                <a:solidFill>
                  <a:srgbClr val="1A1A2E"/>
                </a:solidFill>
                <a:latin typeface="Calibri"/>
              </a:defRPr>
            </a:pPr>
            <a:r>
              <a:t>• IDP design pipeline: 5-stage target-to-validation</a:t>
            </a:r>
          </a:p>
          <a:p>
            <a:pPr>
              <a:spcAft>
                <a:spcPts val="400"/>
              </a:spcAft>
              <a:defRPr sz="1100">
                <a:solidFill>
                  <a:srgbClr val="1A1A2E"/>
                </a:solidFill>
                <a:latin typeface="Calibri"/>
              </a:defRPr>
            </a:pPr>
            <a:r>
              <a:t>• AF2 infrastructure: proper chain separator handling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100584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2E"/>
                </a:solidFill>
                <a:latin typeface="Calibri"/>
              </a:defRPr>
            </a:pPr>
            <a:r>
              <a:t>Reproducibility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1371600"/>
            <a:ext cx="39319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1A1A2E"/>
                </a:solidFill>
                <a:latin typeface="Calibri"/>
              </a:defRPr>
            </a:pPr>
            <a:r>
              <a:t>• Frozen YAML configuration contracts</a:t>
            </a:r>
          </a:p>
          <a:p>
            <a:pPr>
              <a:spcAft>
                <a:spcPts val="400"/>
              </a:spcAft>
              <a:defRPr sz="1100">
                <a:solidFill>
                  <a:srgbClr val="1A1A2E"/>
                </a:solidFill>
                <a:latin typeface="Calibri"/>
              </a:defRPr>
            </a:pPr>
            <a:r>
              <a:t>• SHA256 manifests for all result files</a:t>
            </a:r>
          </a:p>
          <a:p>
            <a:pPr>
              <a:spcAft>
                <a:spcPts val="400"/>
              </a:spcAft>
              <a:defRPr sz="1100">
                <a:solidFill>
                  <a:srgbClr val="1A1A2E"/>
                </a:solidFill>
                <a:latin typeface="Calibri"/>
              </a:defRPr>
            </a:pPr>
            <a:r>
              <a:t>• results_t2.1_v2_final.json (31 records)</a:t>
            </a:r>
          </a:p>
          <a:p>
            <a:pPr>
              <a:spcAft>
                <a:spcPts val="400"/>
              </a:spcAft>
              <a:defRPr sz="1100">
                <a:solidFill>
                  <a:srgbClr val="1A1A2E"/>
                </a:solidFill>
                <a:latin typeface="Calibri"/>
              </a:defRPr>
            </a:pPr>
            <a:r>
              <a:t>• 4hix_final_validation/final_report.json (20 designs)</a:t>
            </a:r>
          </a:p>
          <a:p>
            <a:pPr>
              <a:spcAft>
                <a:spcPts val="400"/>
              </a:spcAft>
              <a:defRPr sz="1100">
                <a:solidFill>
                  <a:srgbClr val="1A1A2E"/>
                </a:solidFill>
                <a:latin typeface="Calibri"/>
              </a:defRPr>
            </a:pPr>
            <a:r>
              <a:t>• INTEGRATIVE_ANALYSIS.md evidence chain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383280"/>
            <a:ext cx="7772400" cy="1097280"/>
          </a:xfrm>
          <a:prstGeom prst="roundRect">
            <a:avLst/>
          </a:prstGeom>
          <a:solidFill>
            <a:srgbClr val="FFF3CD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474720"/>
            <a:ext cx="7406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856A04"/>
                </a:solidFill>
                <a:latin typeface="Calibri"/>
              </a:defRPr>
            </a:pPr>
            <a:r>
              <a:t>Critical Bugs Fixed During Development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794760"/>
            <a:ext cx="7406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56A04"/>
                </a:solidFill>
                <a:latin typeface="Calibri"/>
              </a:defRPr>
            </a:pPr>
            <a:r>
              <a:t>1. Disorder head: training batches never contained disorder_label -&gt; PaddingCollate dropped the field -&gt; loss never fired. Fixed with explicit label injection.</a:t>
            </a:r>
            <a:br/>
            <a:r>
              <a:t>2. AF2 chain separator: antibody chains must use VH:VL (not concatenation) or ipTM drops 4.5x.</a:t>
            </a:r>
            <a:br/>
            <a:r>
              <a:t>3. T2.1 perturbation: peptide restraint 25 -&gt; 100 kJ/mol/nm2 improved valid fraction from 43% to 96.2%.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54864" cy="411480"/>
          </a:xfrm>
          <a:prstGeom prst="rect">
            <a:avLst/>
          </a:prstGeom>
          <a:solidFill>
            <a:srgbClr val="087F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1A2E"/>
                </a:solidFill>
                <a:latin typeface="Calibri"/>
              </a:defRPr>
            </a:pPr>
            <a:r>
              <a:t>9. Conclusions and Future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99999"/>
                </a:solidFill>
                <a:latin typeface="Calibri"/>
              </a:defRPr>
            </a:pPr>
            <a:r>
              <a:t>10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99"/>
                </a:solidFill>
                <a:latin typeface="Calibri"/>
              </a:defRPr>
            </a:pPr>
            <a:r>
              <a:t>Team 28 — Analyzing Disorder | iBEC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0584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2E"/>
                </a:solidFill>
                <a:latin typeface="Calibri"/>
              </a:defRPr>
            </a:pPr>
            <a:r>
              <a:t>Conclusions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7772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t>• ECLS establishes epitope-conditioned CDR-H3 signal across 46 clusters (mean 0.217, 80.4% positive)</a:t>
            </a:r>
          </a:p>
          <a:p>
            <a:pPr>
              <a:spcAft>
                <a:spcPts val="40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t>• Temporal transfer confirmed on sealed post-2021 data (mean 0.172, 80% positive, P=0.014)</a:t>
            </a:r>
          </a:p>
          <a:p>
            <a:pPr>
              <a:spcAft>
                <a:spcPts val="40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t>• T2.1 v2 achieves 96.2% valid structures with 100% positive contact recovery (0.581)</a:t>
            </a:r>
          </a:p>
          <a:p>
            <a:pPr>
              <a:spcAft>
                <a:spcPts val="40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t>• 4HIX prospective design: 20/20 pass AF2, top 3 exceed native ipTM</a:t>
            </a:r>
          </a:p>
          <a:p>
            <a:pPr>
              <a:spcAft>
                <a:spcPts val="40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t>• Disorder-aware framework provides a principled approach to IDP antibody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92608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2E"/>
                </a:solidFill>
                <a:latin typeface="Calibri"/>
              </a:defRPr>
            </a:pPr>
            <a:r>
              <a:t>Limitations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4612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1A1A2E"/>
                </a:solidFill>
                <a:latin typeface="Calibri"/>
              </a:defRPr>
            </a:pPr>
            <a:r>
              <a:t>• No wet-lab validation; all results computational</a:t>
            </a:r>
          </a:p>
          <a:p>
            <a:pPr>
              <a:spcAft>
                <a:spcPts val="400"/>
              </a:spcAft>
              <a:defRPr sz="1100">
                <a:solidFill>
                  <a:srgbClr val="1A1A2E"/>
                </a:solidFill>
                <a:latin typeface="Calibri"/>
              </a:defRPr>
            </a:pPr>
            <a:r>
              <a:t>• Short epitope (6 residues); AF2 less discriminative; 4HIX in AF2 training set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84048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2E"/>
                </a:solidFill>
                <a:latin typeface="Calibri"/>
              </a:defRPr>
            </a:pPr>
            <a:r>
              <a:t>Future Work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16052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1A1A2E"/>
                </a:solidFill>
                <a:latin typeface="Calibri"/>
              </a:defRPr>
            </a:pPr>
            <a:r>
              <a:t>• CAID benchmark evaluation of retrained disorder head</a:t>
            </a:r>
          </a:p>
          <a:p>
            <a:pPr>
              <a:spcAft>
                <a:spcPts val="400"/>
              </a:spcAft>
              <a:defRPr sz="1100">
                <a:solidFill>
                  <a:srgbClr val="1A1A2E"/>
                </a:solidFill>
                <a:latin typeface="Calibri"/>
              </a:defRPr>
            </a:pPr>
            <a:r>
              <a:t>• Extended IDP targets (tau, alpha-synuclein) and experimental validation (SPR/ELISA)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